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70" r:id="rId5"/>
    <p:sldId id="259" r:id="rId6"/>
    <p:sldId id="266" r:id="rId7"/>
    <p:sldId id="267" r:id="rId8"/>
    <p:sldId id="268" r:id="rId9"/>
    <p:sldId id="26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6" d="100"/>
          <a:sy n="66" d="100"/>
        </p:scale>
        <p:origin x="1293" y="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RedDust – Customer Research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10000"/>
          </a:bodyPr>
          <a:lstStyle/>
          <a:p>
            <a:r>
              <a:t>Idea validation presentation before survey</a:t>
            </a:r>
          </a:p>
          <a:p>
            <a:endParaRPr/>
          </a:p>
          <a:p>
            <a:r>
              <a:t>Listen to the music that listens to your soul.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Modern life is stressful, lonely and distracting</a:t>
            </a:r>
          </a:p>
          <a:p>
            <a:pPr>
              <a:defRPr sz="2400"/>
            </a:pPr>
            <a:r>
              <a:t>• Support is fragmented and often unavailable</a:t>
            </a:r>
          </a:p>
          <a:p>
            <a:pPr>
              <a:defRPr sz="2400"/>
            </a:pPr>
            <a:r>
              <a:t>• Music apps play music but don't understand you</a:t>
            </a:r>
          </a:p>
          <a:p>
            <a:pPr>
              <a:defRPr sz="2400"/>
            </a:pPr>
            <a:r>
              <a:t>• Wellbeing apps rarely personalise music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RedDust is an AI Wellbeing Companion and Personal Radio Jockey that understands you, recommends personalised music and conversations, and supports your wellbeing every day.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tx1">
              <a:alpha val="52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785255" y="274638"/>
            <a:ext cx="5355771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RedDust</a:t>
            </a:r>
            <a:br>
              <a:rPr lang="en-US" sz="2800" dirty="0" smtClean="0">
                <a:solidFill>
                  <a:srgbClr val="FFFFEB"/>
                </a:solidFill>
                <a:latin typeface="Candara" panose="020E0502030303020204" pitchFamily="34" charset="0"/>
              </a:rPr>
            </a:b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Listen to the radio that listens to your soul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664934" y="424899"/>
            <a:ext cx="842477" cy="842477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34" t="12434" r="12434" b="12434"/>
          <a:stretch>
            <a:fillRect/>
          </a:stretch>
        </p:blipFill>
        <p:spPr>
          <a:xfrm>
            <a:off x="7794383" y="5838584"/>
            <a:ext cx="696262" cy="696262"/>
          </a:xfrm>
          <a:custGeom>
            <a:avLst/>
            <a:gdLst>
              <a:gd name="connsiteX0" fmla="*/ 1166117 w 5152516"/>
              <a:gd name="connsiteY0" fmla="*/ 0 h 5152516"/>
              <a:gd name="connsiteX1" fmla="*/ 3986399 w 5152516"/>
              <a:gd name="connsiteY1" fmla="*/ 0 h 5152516"/>
              <a:gd name="connsiteX2" fmla="*/ 5152516 w 5152516"/>
              <a:gd name="connsiteY2" fmla="*/ 1166117 h 5152516"/>
              <a:gd name="connsiteX3" fmla="*/ 5152516 w 5152516"/>
              <a:gd name="connsiteY3" fmla="*/ 3986399 h 5152516"/>
              <a:gd name="connsiteX4" fmla="*/ 3986399 w 5152516"/>
              <a:gd name="connsiteY4" fmla="*/ 5152516 h 5152516"/>
              <a:gd name="connsiteX5" fmla="*/ 1166117 w 5152516"/>
              <a:gd name="connsiteY5" fmla="*/ 5152516 h 5152516"/>
              <a:gd name="connsiteX6" fmla="*/ 0 w 5152516"/>
              <a:gd name="connsiteY6" fmla="*/ 3986399 h 5152516"/>
              <a:gd name="connsiteX7" fmla="*/ 0 w 5152516"/>
              <a:gd name="connsiteY7" fmla="*/ 1166117 h 5152516"/>
              <a:gd name="connsiteX8" fmla="*/ 1166117 w 5152516"/>
              <a:gd name="connsiteY8" fmla="*/ 0 h 51525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152516" h="5152516">
                <a:moveTo>
                  <a:pt x="1166117" y="0"/>
                </a:moveTo>
                <a:lnTo>
                  <a:pt x="3986399" y="0"/>
                </a:lnTo>
                <a:cubicBezTo>
                  <a:pt x="4630428" y="0"/>
                  <a:pt x="5152516" y="522088"/>
                  <a:pt x="5152516" y="1166117"/>
                </a:cubicBezTo>
                <a:lnTo>
                  <a:pt x="5152516" y="3986399"/>
                </a:lnTo>
                <a:cubicBezTo>
                  <a:pt x="5152516" y="4630428"/>
                  <a:pt x="4630428" y="5152516"/>
                  <a:pt x="3986399" y="5152516"/>
                </a:cubicBezTo>
                <a:lnTo>
                  <a:pt x="1166117" y="5152516"/>
                </a:lnTo>
                <a:cubicBezTo>
                  <a:pt x="522088" y="5152516"/>
                  <a:pt x="0" y="4630428"/>
                  <a:pt x="0" y="3986399"/>
                </a:cubicBezTo>
                <a:lnTo>
                  <a:pt x="0" y="1166117"/>
                </a:lnTo>
                <a:cubicBezTo>
                  <a:pt x="0" y="522088"/>
                  <a:pt x="522088" y="0"/>
                  <a:pt x="1166117" y="0"/>
                </a:cubicBezTo>
                <a:close/>
              </a:path>
            </a:pathLst>
          </a:custGeom>
        </p:spPr>
      </p:pic>
      <p:sp>
        <p:nvSpPr>
          <p:cNvPr id="12" name="Title 1"/>
          <p:cNvSpPr txBox="1">
            <a:spLocks/>
          </p:cNvSpPr>
          <p:nvPr/>
        </p:nvSpPr>
        <p:spPr>
          <a:xfrm>
            <a:off x="5943596" y="6152500"/>
            <a:ext cx="2394859" cy="3823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Powered by Syan Bot</a:t>
            </a:r>
            <a:endParaRPr lang="en-US" sz="28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06400" y="2271265"/>
            <a:ext cx="8737600" cy="800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FFEB"/>
                </a:solidFill>
                <a:latin typeface="Candara" panose="020E0502030303020204" pitchFamily="34" charset="0"/>
              </a:rPr>
              <a:t>A</a:t>
            </a:r>
            <a:r>
              <a:rPr lang="en-US" sz="2000" dirty="0">
                <a:solidFill>
                  <a:srgbClr val="FFFFEB"/>
                </a:solidFill>
                <a:latin typeface="Candara" panose="020E0502030303020204" pitchFamily="34" charset="0"/>
              </a:rPr>
              <a:t>I-Powered Personalized </a:t>
            </a:r>
            <a:r>
              <a:rPr lang="en-US" sz="20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Music and </a:t>
            </a:r>
            <a:r>
              <a:rPr lang="en-US" sz="2000" dirty="0">
                <a:solidFill>
                  <a:srgbClr val="FFFFEB"/>
                </a:solidFill>
                <a:latin typeface="Candara" panose="020E0502030303020204" pitchFamily="34" charset="0"/>
              </a:rPr>
              <a:t>Wellbeing </a:t>
            </a:r>
            <a:r>
              <a:rPr lang="en-US" sz="20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Platform</a:t>
            </a:r>
          </a:p>
          <a:p>
            <a:endParaRPr lang="en-US" sz="400" dirty="0" smtClean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endParaRPr lang="en-US" sz="400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endParaRPr lang="en-AU" sz="400" dirty="0" smtClean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r>
              <a:rPr lang="en-AU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Vision</a:t>
            </a:r>
            <a:r>
              <a:rPr lang="en-AU" sz="1400" dirty="0">
                <a:solidFill>
                  <a:srgbClr val="FFFFEB"/>
                </a:solidFill>
                <a:latin typeface="Candara" panose="020E0502030303020204" pitchFamily="34" charset="0"/>
              </a:rPr>
              <a:t>: C</a:t>
            </a: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reating </a:t>
            </a:r>
            <a:r>
              <a:rPr lang="en-US" sz="1400" dirty="0">
                <a:solidFill>
                  <a:srgbClr val="FFFFEB"/>
                </a:solidFill>
                <a:latin typeface="Candara" panose="020E0502030303020204" pitchFamily="34" charset="0"/>
              </a:rPr>
              <a:t>personalized music </a:t>
            </a: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that </a:t>
            </a:r>
            <a:r>
              <a:rPr lang="en-US" sz="1400" dirty="0">
                <a:solidFill>
                  <a:srgbClr val="FFFFEB"/>
                </a:solidFill>
                <a:latin typeface="Candara" panose="020E0502030303020204" pitchFamily="34" charset="0"/>
              </a:rPr>
              <a:t>understands the listener </a:t>
            </a: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- </a:t>
            </a:r>
            <a:r>
              <a:rPr lang="en-US" sz="1400" dirty="0">
                <a:solidFill>
                  <a:srgbClr val="FFFFEB"/>
                </a:solidFill>
                <a:latin typeface="Candara" panose="020E0502030303020204" pitchFamily="34" charset="0"/>
              </a:rPr>
              <a:t>to energize, refresh, motivate, relax and </a:t>
            </a: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uplift</a:t>
            </a:r>
            <a:endParaRPr lang="en-US" sz="14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6399" y="3232443"/>
            <a:ext cx="8411029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Concept:</a:t>
            </a:r>
          </a:p>
          <a:p>
            <a:endParaRPr lang="en-US" sz="400" dirty="0" smtClean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Personalized </a:t>
            </a: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music recommendation</a:t>
            </a: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 </a:t>
            </a:r>
            <a:r>
              <a:rPr lang="en-US" sz="1400" dirty="0">
                <a:solidFill>
                  <a:srgbClr val="FFFFEB"/>
                </a:solidFill>
                <a:latin typeface="Candara" panose="020E0502030303020204" pitchFamily="34" charset="0"/>
              </a:rPr>
              <a:t>and wellbeing </a:t>
            </a: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companion that creates </a:t>
            </a:r>
            <a:r>
              <a:rPr lang="en-US" sz="1400" dirty="0">
                <a:solidFill>
                  <a:srgbClr val="FFFFEB"/>
                </a:solidFill>
                <a:latin typeface="Candara" panose="020E0502030303020204" pitchFamily="34" charset="0"/>
              </a:rPr>
              <a:t>programs, not just </a:t>
            </a: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playlists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400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Adapts </a:t>
            </a:r>
            <a:r>
              <a:rPr lang="en-US" sz="1400" dirty="0">
                <a:solidFill>
                  <a:srgbClr val="FFFFEB"/>
                </a:solidFill>
                <a:latin typeface="Candara" panose="020E0502030303020204" pitchFamily="34" charset="0"/>
              </a:rPr>
              <a:t>to mood, situation, age, language and </a:t>
            </a: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preferences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400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 smtClean="0">
                <a:solidFill>
                  <a:srgbClr val="FFFFEB"/>
                </a:solidFill>
                <a:latin typeface="Candara" panose="020E0502030303020204" pitchFamily="34" charset="0"/>
              </a:rPr>
              <a:t>Supports </a:t>
            </a:r>
            <a:r>
              <a:rPr lang="en-US" sz="1400" dirty="0">
                <a:solidFill>
                  <a:srgbClr val="FFFFEB"/>
                </a:solidFill>
                <a:latin typeface="Candara" panose="020E0502030303020204" pitchFamily="34" charset="0"/>
              </a:rPr>
              <a:t>music, karaoke, ambience and wellbeing</a:t>
            </a:r>
          </a:p>
        </p:txBody>
      </p:sp>
    </p:spTree>
    <p:extLst>
      <p:ext uri="{BB962C8B-B14F-4D97-AF65-F5344CB8AC3E}">
        <p14:creationId xmlns:p14="http://schemas.microsoft.com/office/powerpoint/2010/main" val="2437939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RedDust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Talk naturally with Syan Bot</a:t>
            </a:r>
          </a:p>
          <a:p>
            <a:pPr>
              <a:defRPr sz="2400"/>
            </a:pPr>
            <a:r>
              <a:t>• Understand mood, activity &amp; life situation</a:t>
            </a:r>
          </a:p>
          <a:p>
            <a:pPr>
              <a:defRPr sz="2400"/>
            </a:pPr>
            <a:r>
              <a:t>• Recommend personalised music &amp; podcasts</a:t>
            </a:r>
          </a:p>
          <a:p>
            <a:pPr>
              <a:defRPr sz="2400"/>
            </a:pPr>
            <a:r>
              <a:t>• Learn continuously</a:t>
            </a:r>
          </a:p>
          <a:p>
            <a:pPr>
              <a:defRPr sz="2400"/>
            </a:pPr>
            <a:r>
              <a:t>• Track wellbeing over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Oval 106"/>
          <p:cNvSpPr/>
          <p:nvPr/>
        </p:nvSpPr>
        <p:spPr>
          <a:xfrm>
            <a:off x="10357969" y="10964534"/>
            <a:ext cx="442570" cy="63728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0250" y="857250"/>
            <a:ext cx="5143500" cy="5143500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1687808" y="1228042"/>
            <a:ext cx="2410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Syan Avatar</a:t>
            </a:r>
          </a:p>
        </p:txBody>
      </p:sp>
    </p:spTree>
    <p:extLst>
      <p:ext uri="{BB962C8B-B14F-4D97-AF65-F5344CB8AC3E}">
        <p14:creationId xmlns:p14="http://schemas.microsoft.com/office/powerpoint/2010/main" val="3942107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3" t="1294" r="1633" b="1294"/>
          <a:stretch>
            <a:fillRect/>
          </a:stretch>
        </p:blipFill>
        <p:spPr>
          <a:xfrm>
            <a:off x="2018201" y="857250"/>
            <a:ext cx="5111049" cy="5146975"/>
          </a:xfrm>
          <a:custGeom>
            <a:avLst/>
            <a:gdLst>
              <a:gd name="connsiteX0" fmla="*/ 3316975 w 6633950"/>
              <a:gd name="connsiteY0" fmla="*/ 0 h 6680580"/>
              <a:gd name="connsiteX1" fmla="*/ 6633950 w 6633950"/>
              <a:gd name="connsiteY1" fmla="*/ 3340290 h 6680580"/>
              <a:gd name="connsiteX2" fmla="*/ 3316975 w 6633950"/>
              <a:gd name="connsiteY2" fmla="*/ 6680580 h 6680580"/>
              <a:gd name="connsiteX3" fmla="*/ 0 w 6633950"/>
              <a:gd name="connsiteY3" fmla="*/ 3340290 h 6680580"/>
              <a:gd name="connsiteX4" fmla="*/ 3316975 w 6633950"/>
              <a:gd name="connsiteY4" fmla="*/ 0 h 66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33950" h="6680580">
                <a:moveTo>
                  <a:pt x="3316975" y="0"/>
                </a:moveTo>
                <a:cubicBezTo>
                  <a:pt x="5148890" y="0"/>
                  <a:pt x="6633950" y="1495499"/>
                  <a:pt x="6633950" y="3340290"/>
                </a:cubicBezTo>
                <a:cubicBezTo>
                  <a:pt x="6633950" y="5185081"/>
                  <a:pt x="5148890" y="6680580"/>
                  <a:pt x="3316975" y="6680580"/>
                </a:cubicBezTo>
                <a:cubicBezTo>
                  <a:pt x="1485060" y="6680580"/>
                  <a:pt x="0" y="5185081"/>
                  <a:pt x="0" y="3340290"/>
                </a:cubicBezTo>
                <a:cubicBezTo>
                  <a:pt x="0" y="1495499"/>
                  <a:pt x="1485060" y="0"/>
                  <a:pt x="3316975" y="0"/>
                </a:cubicBezTo>
                <a:close/>
              </a:path>
            </a:pathLst>
          </a:custGeom>
        </p:spPr>
      </p:pic>
      <p:sp>
        <p:nvSpPr>
          <p:cNvPr id="107" name="Oval 106"/>
          <p:cNvSpPr/>
          <p:nvPr/>
        </p:nvSpPr>
        <p:spPr>
          <a:xfrm>
            <a:off x="10357969" y="10964534"/>
            <a:ext cx="442570" cy="63728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8" name="TextBox 7"/>
          <p:cNvSpPr txBox="1"/>
          <p:nvPr/>
        </p:nvSpPr>
        <p:spPr>
          <a:xfrm>
            <a:off x="3197592" y="3909828"/>
            <a:ext cx="2410851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Sara, User Avatar</a:t>
            </a:r>
          </a:p>
          <a:p>
            <a:r>
              <a:rPr lang="en-US" sz="1350" dirty="0">
                <a:solidFill>
                  <a:schemeClr val="bg1"/>
                </a:solidFill>
              </a:rPr>
              <a:t>Sara 23, </a:t>
            </a:r>
            <a:endParaRPr lang="en-US" sz="1350" dirty="0">
              <a:solidFill>
                <a:schemeClr val="bg1"/>
              </a:solidFill>
            </a:endParaRPr>
          </a:p>
          <a:p>
            <a:r>
              <a:rPr lang="en-US" sz="1350" dirty="0">
                <a:solidFill>
                  <a:schemeClr val="bg1"/>
                </a:solidFill>
              </a:rPr>
              <a:t>Student </a:t>
            </a:r>
            <a:r>
              <a:rPr lang="en-US" sz="1350" dirty="0">
                <a:solidFill>
                  <a:schemeClr val="bg1"/>
                </a:solidFill>
              </a:rPr>
              <a:t>(Psychology </a:t>
            </a:r>
            <a:r>
              <a:rPr lang="en-US" sz="1350" dirty="0">
                <a:solidFill>
                  <a:schemeClr val="bg1"/>
                </a:solidFill>
              </a:rPr>
              <a:t>Bachelors</a:t>
            </a:r>
            <a:r>
              <a:rPr lang="en-US" sz="1350" dirty="0">
                <a:solidFill>
                  <a:schemeClr val="bg1"/>
                </a:solidFill>
              </a:rPr>
              <a:t>), </a:t>
            </a:r>
            <a:r>
              <a:rPr lang="en-US" sz="1350" dirty="0">
                <a:solidFill>
                  <a:schemeClr val="bg1"/>
                </a:solidFill>
              </a:rPr>
              <a:t>Sydney, Australia</a:t>
            </a:r>
            <a:endParaRPr lang="en-US" sz="135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0093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8002" y="1071008"/>
            <a:ext cx="2491740" cy="4669155"/>
          </a:xfrm>
          <a:prstGeom prst="roundRect">
            <a:avLst>
              <a:gd name="adj" fmla="val 11621"/>
            </a:avLst>
          </a:prstGeom>
          <a:blipFill>
            <a:blip r:embed="rId2"/>
            <a:stretch>
              <a:fillRect/>
            </a:stretch>
          </a:blip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3" name="TextBox 2"/>
          <p:cNvSpPr txBox="1"/>
          <p:nvPr/>
        </p:nvSpPr>
        <p:spPr>
          <a:xfrm>
            <a:off x="648872" y="1888253"/>
            <a:ext cx="2410851" cy="530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10:10 am</a:t>
            </a:r>
          </a:p>
          <a:p>
            <a:pPr algn="ctr"/>
            <a:r>
              <a:rPr lang="en-US" sz="1050" dirty="0">
                <a:solidFill>
                  <a:schemeClr val="bg1"/>
                </a:solidFill>
              </a:rPr>
              <a:t>10-Oct-2026</a:t>
            </a:r>
            <a:endParaRPr lang="en-AU" sz="1500" dirty="0">
              <a:solidFill>
                <a:schemeClr val="bg1"/>
              </a:solidFill>
            </a:endParaRPr>
          </a:p>
        </p:txBody>
      </p:sp>
      <p:sp>
        <p:nvSpPr>
          <p:cNvPr id="107" name="Oval 106"/>
          <p:cNvSpPr/>
          <p:nvPr/>
        </p:nvSpPr>
        <p:spPr>
          <a:xfrm>
            <a:off x="10189157" y="10964534"/>
            <a:ext cx="442570" cy="63728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57" name="Oval 56"/>
          <p:cNvSpPr/>
          <p:nvPr/>
        </p:nvSpPr>
        <p:spPr>
          <a:xfrm>
            <a:off x="13022702" y="10964534"/>
            <a:ext cx="442570" cy="63728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62" name="Rounded Rectangle 61"/>
          <p:cNvSpPr/>
          <p:nvPr/>
        </p:nvSpPr>
        <p:spPr>
          <a:xfrm>
            <a:off x="6275093" y="1071008"/>
            <a:ext cx="2491740" cy="4669155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65" name="Oval 64"/>
          <p:cNvSpPr/>
          <p:nvPr/>
        </p:nvSpPr>
        <p:spPr>
          <a:xfrm>
            <a:off x="15856248" y="10964534"/>
            <a:ext cx="442570" cy="63728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4" name="Rounded Rectangle 3"/>
          <p:cNvSpPr/>
          <p:nvPr/>
        </p:nvSpPr>
        <p:spPr>
          <a:xfrm>
            <a:off x="822961" y="2814419"/>
            <a:ext cx="2067951" cy="427306"/>
          </a:xfrm>
          <a:prstGeom prst="roundRect">
            <a:avLst>
              <a:gd name="adj" fmla="val 50000"/>
            </a:avLst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083" y="2845590"/>
            <a:ext cx="292935" cy="307224"/>
          </a:xfrm>
          <a:prstGeom prst="rect">
            <a:avLst/>
          </a:prstGeom>
        </p:spPr>
      </p:pic>
      <p:pic>
        <p:nvPicPr>
          <p:cNvPr id="6" name="Picture 4" descr="Free Microphone Icon, Symbol. Download in SVG &amp; PNG Formats.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4466" y="2912686"/>
            <a:ext cx="253631" cy="253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0" name="Picture 69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49" t="15849" r="15849" b="15849"/>
          <a:stretch>
            <a:fillRect/>
          </a:stretch>
        </p:blipFill>
        <p:spPr>
          <a:xfrm>
            <a:off x="891351" y="3706598"/>
            <a:ext cx="356667" cy="356667"/>
          </a:xfrm>
          <a:custGeom>
            <a:avLst/>
            <a:gdLst>
              <a:gd name="connsiteX0" fmla="*/ 1060107 w 4684105"/>
              <a:gd name="connsiteY0" fmla="*/ 0 h 4684105"/>
              <a:gd name="connsiteX1" fmla="*/ 3623998 w 4684105"/>
              <a:gd name="connsiteY1" fmla="*/ 0 h 4684105"/>
              <a:gd name="connsiteX2" fmla="*/ 4684105 w 4684105"/>
              <a:gd name="connsiteY2" fmla="*/ 1060107 h 4684105"/>
              <a:gd name="connsiteX3" fmla="*/ 4684105 w 4684105"/>
              <a:gd name="connsiteY3" fmla="*/ 3623998 h 4684105"/>
              <a:gd name="connsiteX4" fmla="*/ 3623998 w 4684105"/>
              <a:gd name="connsiteY4" fmla="*/ 4684105 h 4684105"/>
              <a:gd name="connsiteX5" fmla="*/ 1060107 w 4684105"/>
              <a:gd name="connsiteY5" fmla="*/ 4684105 h 4684105"/>
              <a:gd name="connsiteX6" fmla="*/ 0 w 4684105"/>
              <a:gd name="connsiteY6" fmla="*/ 3623998 h 4684105"/>
              <a:gd name="connsiteX7" fmla="*/ 0 w 4684105"/>
              <a:gd name="connsiteY7" fmla="*/ 1060107 h 4684105"/>
              <a:gd name="connsiteX8" fmla="*/ 1060107 w 4684105"/>
              <a:gd name="connsiteY8" fmla="*/ 0 h 4684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684105" h="4684105">
                <a:moveTo>
                  <a:pt x="1060107" y="0"/>
                </a:moveTo>
                <a:lnTo>
                  <a:pt x="3623998" y="0"/>
                </a:lnTo>
                <a:cubicBezTo>
                  <a:pt x="4209479" y="0"/>
                  <a:pt x="4684105" y="474626"/>
                  <a:pt x="4684105" y="1060107"/>
                </a:cubicBezTo>
                <a:lnTo>
                  <a:pt x="4684105" y="3623998"/>
                </a:lnTo>
                <a:cubicBezTo>
                  <a:pt x="4684105" y="4209479"/>
                  <a:pt x="4209479" y="4684105"/>
                  <a:pt x="3623998" y="4684105"/>
                </a:cubicBezTo>
                <a:lnTo>
                  <a:pt x="1060107" y="4684105"/>
                </a:lnTo>
                <a:cubicBezTo>
                  <a:pt x="474626" y="4684105"/>
                  <a:pt x="0" y="4209479"/>
                  <a:pt x="0" y="3623998"/>
                </a:cubicBezTo>
                <a:lnTo>
                  <a:pt x="0" y="1060107"/>
                </a:lnTo>
                <a:cubicBezTo>
                  <a:pt x="0" y="474626"/>
                  <a:pt x="474626" y="0"/>
                  <a:pt x="1060107" y="0"/>
                </a:cubicBezTo>
                <a:close/>
              </a:path>
            </a:pathLst>
          </a:custGeom>
        </p:spPr>
      </p:pic>
      <p:sp>
        <p:nvSpPr>
          <p:cNvPr id="71" name="Title 1"/>
          <p:cNvSpPr txBox="1">
            <a:spLocks/>
          </p:cNvSpPr>
          <p:nvPr/>
        </p:nvSpPr>
        <p:spPr>
          <a:xfrm>
            <a:off x="798286" y="4063266"/>
            <a:ext cx="542797" cy="205219"/>
          </a:xfrm>
          <a:prstGeom prst="rect">
            <a:avLst/>
          </a:prstGeom>
        </p:spPr>
        <p:txBody>
          <a:bodyPr vert="horz" lIns="68580" tIns="34290" rIns="68580" bIns="34290" rtlCol="0" anchor="ctr">
            <a:normAutofit fontScale="62500" lnSpcReduction="200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350" dirty="0">
                <a:solidFill>
                  <a:srgbClr val="FFFFEB"/>
                </a:solidFill>
                <a:latin typeface="Candara" panose="020E0502030303020204" pitchFamily="34" charset="0"/>
              </a:rPr>
              <a:t>RedDust</a:t>
            </a:r>
            <a:endParaRPr lang="en-US" sz="135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pic>
        <p:nvPicPr>
          <p:cNvPr id="75" name="Picture 74"/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6" r="56443"/>
          <a:stretch/>
        </p:blipFill>
        <p:spPr>
          <a:xfrm>
            <a:off x="3441548" y="1071008"/>
            <a:ext cx="2491740" cy="4669155"/>
          </a:xfrm>
          <a:custGeom>
            <a:avLst/>
            <a:gdLst>
              <a:gd name="connsiteX0" fmla="*/ 386087 w 3322320"/>
              <a:gd name="connsiteY0" fmla="*/ 0 h 6225540"/>
              <a:gd name="connsiteX1" fmla="*/ 2936233 w 3322320"/>
              <a:gd name="connsiteY1" fmla="*/ 0 h 6225540"/>
              <a:gd name="connsiteX2" fmla="*/ 3322320 w 3322320"/>
              <a:gd name="connsiteY2" fmla="*/ 386087 h 6225540"/>
              <a:gd name="connsiteX3" fmla="*/ 3322320 w 3322320"/>
              <a:gd name="connsiteY3" fmla="*/ 5839453 h 6225540"/>
              <a:gd name="connsiteX4" fmla="*/ 2936233 w 3322320"/>
              <a:gd name="connsiteY4" fmla="*/ 6225540 h 6225540"/>
              <a:gd name="connsiteX5" fmla="*/ 386087 w 3322320"/>
              <a:gd name="connsiteY5" fmla="*/ 6225540 h 6225540"/>
              <a:gd name="connsiteX6" fmla="*/ 0 w 3322320"/>
              <a:gd name="connsiteY6" fmla="*/ 5839453 h 6225540"/>
              <a:gd name="connsiteX7" fmla="*/ 0 w 3322320"/>
              <a:gd name="connsiteY7" fmla="*/ 386087 h 6225540"/>
              <a:gd name="connsiteX8" fmla="*/ 386087 w 3322320"/>
              <a:gd name="connsiteY8" fmla="*/ 0 h 622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322320" h="6225540">
                <a:moveTo>
                  <a:pt x="386087" y="0"/>
                </a:moveTo>
                <a:lnTo>
                  <a:pt x="2936233" y="0"/>
                </a:lnTo>
                <a:cubicBezTo>
                  <a:pt x="3149463" y="0"/>
                  <a:pt x="3322320" y="172857"/>
                  <a:pt x="3322320" y="386087"/>
                </a:cubicBezTo>
                <a:lnTo>
                  <a:pt x="3322320" y="5839453"/>
                </a:lnTo>
                <a:cubicBezTo>
                  <a:pt x="3322320" y="6052683"/>
                  <a:pt x="3149463" y="6225540"/>
                  <a:pt x="2936233" y="6225540"/>
                </a:cubicBezTo>
                <a:lnTo>
                  <a:pt x="386087" y="6225540"/>
                </a:lnTo>
                <a:cubicBezTo>
                  <a:pt x="172857" y="6225540"/>
                  <a:pt x="0" y="6052683"/>
                  <a:pt x="0" y="5839453"/>
                </a:cubicBezTo>
                <a:lnTo>
                  <a:pt x="0" y="386087"/>
                </a:lnTo>
                <a:cubicBezTo>
                  <a:pt x="0" y="172857"/>
                  <a:pt x="172857" y="0"/>
                  <a:pt x="386087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</p:pic>
      <p:sp>
        <p:nvSpPr>
          <p:cNvPr id="77" name="Title 1"/>
          <p:cNvSpPr txBox="1">
            <a:spLocks/>
          </p:cNvSpPr>
          <p:nvPr/>
        </p:nvSpPr>
        <p:spPr>
          <a:xfrm>
            <a:off x="3441548" y="2737691"/>
            <a:ext cx="2498295" cy="857250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70000"/>
              </a:lnSpc>
            </a:pPr>
            <a:r>
              <a:rPr lang="en-US" sz="33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</a:rPr>
              <a:t>RedDust</a:t>
            </a:r>
            <a:r>
              <a:rPr lang="en-US" sz="2400" dirty="0">
                <a:solidFill>
                  <a:srgbClr val="FFFFEB"/>
                </a:solidFill>
                <a:latin typeface="Candara" panose="020E0502030303020204" pitchFamily="34" charset="0"/>
              </a:rPr>
              <a:t/>
            </a:r>
            <a:br>
              <a:rPr lang="en-US" sz="2400" dirty="0">
                <a:solidFill>
                  <a:srgbClr val="FFFFEB"/>
                </a:solidFill>
                <a:latin typeface="Candara" panose="020E0502030303020204" pitchFamily="34" charset="0"/>
              </a:rPr>
            </a:br>
            <a:endParaRPr lang="en-US" sz="2400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>
              <a:lnSpc>
                <a:spcPct val="170000"/>
              </a:lnSpc>
            </a:pPr>
            <a:endParaRPr lang="en-US" sz="788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>
              <a:lnSpc>
                <a:spcPct val="170000"/>
              </a:lnSpc>
            </a:pPr>
            <a:endParaRPr lang="en-US" sz="1050" dirty="0">
              <a:solidFill>
                <a:srgbClr val="FFFFEB"/>
              </a:solidFill>
              <a:latin typeface="Candara" panose="020E0502030303020204" pitchFamily="34" charset="0"/>
            </a:endParaRPr>
          </a:p>
          <a:p>
            <a:pPr>
              <a:lnSpc>
                <a:spcPct val="170000"/>
              </a:lnSpc>
            </a:pPr>
            <a:r>
              <a:rPr lang="en-US" sz="1350" dirty="0">
                <a:solidFill>
                  <a:srgbClr val="FFFFEB"/>
                </a:solidFill>
                <a:latin typeface="Candara" panose="020E0502030303020204" pitchFamily="34" charset="0"/>
              </a:rPr>
              <a:t>Listen to the music</a:t>
            </a:r>
          </a:p>
          <a:p>
            <a:pPr>
              <a:lnSpc>
                <a:spcPct val="170000"/>
              </a:lnSpc>
            </a:pPr>
            <a:r>
              <a:rPr lang="en-US" sz="1350" dirty="0">
                <a:solidFill>
                  <a:srgbClr val="FFFFEB"/>
                </a:solidFill>
                <a:latin typeface="Candara" panose="020E0502030303020204" pitchFamily="34" charset="0"/>
              </a:rPr>
              <a:t> that listens to your soul</a:t>
            </a:r>
            <a:endParaRPr lang="en-US" sz="3000" dirty="0">
              <a:solidFill>
                <a:srgbClr val="FFFFEB"/>
              </a:solidFill>
              <a:latin typeface="Candara" panose="020E0502030303020204" pitchFamily="34" charset="0"/>
            </a:endParaRPr>
          </a:p>
        </p:txBody>
      </p:sp>
      <p:grpSp>
        <p:nvGrpSpPr>
          <p:cNvPr id="11" name="Group 10"/>
          <p:cNvGrpSpPr/>
          <p:nvPr/>
        </p:nvGrpSpPr>
        <p:grpSpPr>
          <a:xfrm>
            <a:off x="6687694" y="1888253"/>
            <a:ext cx="1666538" cy="349996"/>
            <a:chOff x="8822532" y="1308120"/>
            <a:chExt cx="2222051" cy="466660"/>
          </a:xfrm>
        </p:grpSpPr>
        <p:sp>
          <p:nvSpPr>
            <p:cNvPr id="63" name="TextBox 62"/>
            <p:cNvSpPr txBox="1"/>
            <p:nvPr/>
          </p:nvSpPr>
          <p:spPr>
            <a:xfrm>
              <a:off x="8822532" y="1374671"/>
              <a:ext cx="1934718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u="sng"/>
                <a:t>Login with Google</a:t>
              </a:r>
              <a:endParaRPr lang="en-AU" sz="1350" u="sng" dirty="0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28218" y="1308120"/>
              <a:ext cx="416365" cy="43588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294486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Oval 106"/>
          <p:cNvSpPr/>
          <p:nvPr/>
        </p:nvSpPr>
        <p:spPr>
          <a:xfrm>
            <a:off x="11163784" y="10947389"/>
            <a:ext cx="442570" cy="63728"/>
          </a:xfrm>
          <a:prstGeom prst="ellipse">
            <a:avLst/>
          </a:prstGeom>
          <a:solidFill>
            <a:srgbClr val="FF9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19" name="Rounded Rectangle 18"/>
          <p:cNvSpPr/>
          <p:nvPr/>
        </p:nvSpPr>
        <p:spPr>
          <a:xfrm>
            <a:off x="626802" y="1064999"/>
            <a:ext cx="2491740" cy="4669155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 dirty="0"/>
          </a:p>
        </p:txBody>
      </p:sp>
      <p:grpSp>
        <p:nvGrpSpPr>
          <p:cNvPr id="4" name="Group 3"/>
          <p:cNvGrpSpPr/>
          <p:nvPr/>
        </p:nvGrpSpPr>
        <p:grpSpPr>
          <a:xfrm>
            <a:off x="988882" y="5027656"/>
            <a:ext cx="1824703" cy="653626"/>
            <a:chOff x="874237" y="5520554"/>
            <a:chExt cx="2432936" cy="871501"/>
          </a:xfrm>
        </p:grpSpPr>
        <p:grpSp>
          <p:nvGrpSpPr>
            <p:cNvPr id="3" name="Group 2"/>
            <p:cNvGrpSpPr/>
            <p:nvPr/>
          </p:nvGrpSpPr>
          <p:grpSpPr>
            <a:xfrm>
              <a:off x="874237" y="5520554"/>
              <a:ext cx="884417" cy="871501"/>
              <a:chOff x="866648" y="5755307"/>
              <a:chExt cx="738267" cy="691699"/>
            </a:xfrm>
          </p:grpSpPr>
          <p:sp>
            <p:nvSpPr>
              <p:cNvPr id="20" name="Oval 19"/>
              <p:cNvSpPr/>
              <p:nvPr/>
            </p:nvSpPr>
            <p:spPr>
              <a:xfrm>
                <a:off x="890903" y="5755307"/>
                <a:ext cx="714012" cy="691699"/>
              </a:xfrm>
              <a:prstGeom prst="ellipse">
                <a:avLst/>
              </a:prstGeom>
              <a:solidFill>
                <a:srgbClr val="FF99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1350"/>
              </a:p>
            </p:txBody>
          </p:sp>
          <p:sp>
            <p:nvSpPr>
              <p:cNvPr id="24" name="TextBox 23"/>
              <p:cNvSpPr txBox="1"/>
              <p:nvPr/>
            </p:nvSpPr>
            <p:spPr>
              <a:xfrm>
                <a:off x="866648" y="6122646"/>
                <a:ext cx="735424" cy="2442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AU" sz="900" dirty="0"/>
                  <a:t>With Syan</a:t>
                </a:r>
              </a:p>
            </p:txBody>
          </p:sp>
          <p:pic>
            <p:nvPicPr>
              <p:cNvPr id="53" name="Picture 4" descr="Free Microphone Icon, Symbol. Download in SVG &amp; PNG Formats.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7392" y="5785943"/>
                <a:ext cx="371992" cy="3719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5" name="Picture 12" descr="Wellbeing Icons - Free SVG &amp; PNG Wellbeing Images - Noun Projec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9147" y="5646141"/>
              <a:ext cx="376894" cy="3768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4" name="TextBox 53"/>
            <p:cNvSpPr txBox="1"/>
            <p:nvPr/>
          </p:nvSpPr>
          <p:spPr>
            <a:xfrm>
              <a:off x="2391965" y="6023035"/>
              <a:ext cx="915208" cy="307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r>
                <a:rPr lang="en-AU" sz="900" dirty="0"/>
                <a:t>Soul Space</a:t>
              </a:r>
              <a:endParaRPr lang="en-AU" sz="900" dirty="0"/>
            </a:p>
          </p:txBody>
        </p:sp>
      </p:grpSp>
      <p:sp>
        <p:nvSpPr>
          <p:cNvPr id="55" name="Rounded Rectangle 54"/>
          <p:cNvSpPr/>
          <p:nvPr/>
        </p:nvSpPr>
        <p:spPr>
          <a:xfrm>
            <a:off x="691515" y="1389991"/>
            <a:ext cx="2366010" cy="3406864"/>
          </a:xfrm>
          <a:prstGeom prst="roundRect">
            <a:avLst>
              <a:gd name="adj" fmla="val 3430"/>
            </a:avLst>
          </a:prstGeom>
          <a:solidFill>
            <a:schemeClr val="bg1">
              <a:lumMod val="95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AU" sz="135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0" name="Rounded Rectangular Callout 59"/>
          <p:cNvSpPr/>
          <p:nvPr/>
        </p:nvSpPr>
        <p:spPr>
          <a:xfrm rot="5400000">
            <a:off x="1232603" y="1696208"/>
            <a:ext cx="196264" cy="573010"/>
          </a:xfrm>
          <a:prstGeom prst="wedgeRoundRectCallout">
            <a:avLst>
              <a:gd name="adj1" fmla="val -29386"/>
              <a:gd name="adj2" fmla="val 65386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61" name="Rounded Rectangular Callout 60"/>
          <p:cNvSpPr/>
          <p:nvPr/>
        </p:nvSpPr>
        <p:spPr>
          <a:xfrm rot="5400000" flipV="1">
            <a:off x="1668448" y="832178"/>
            <a:ext cx="329303" cy="1621155"/>
          </a:xfrm>
          <a:prstGeom prst="wedgeRoundRectCallout">
            <a:avLst>
              <a:gd name="adj1" fmla="val -36335"/>
              <a:gd name="adj2" fmla="val 53993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62" name="Rectangle 61"/>
          <p:cNvSpPr/>
          <p:nvPr/>
        </p:nvSpPr>
        <p:spPr>
          <a:xfrm>
            <a:off x="1003175" y="1461158"/>
            <a:ext cx="17073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900" dirty="0"/>
              <a:t>Hey Sara 💜 How are you feeling right now?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23873" y="1882328"/>
            <a:ext cx="170739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900" dirty="0"/>
              <a:t>A bit </a:t>
            </a:r>
            <a:r>
              <a:rPr lang="en-AU" sz="900" dirty="0"/>
              <a:t>tired.</a:t>
            </a:r>
            <a:endParaRPr lang="en-AU" sz="900" dirty="0"/>
          </a:p>
        </p:txBody>
      </p:sp>
      <p:sp>
        <p:nvSpPr>
          <p:cNvPr id="65" name="Rounded Rectangular Callout 64"/>
          <p:cNvSpPr/>
          <p:nvPr/>
        </p:nvSpPr>
        <p:spPr>
          <a:xfrm rot="5400000" flipV="1">
            <a:off x="1742972" y="1436091"/>
            <a:ext cx="190805" cy="1621155"/>
          </a:xfrm>
          <a:prstGeom prst="wedgeRoundRectCallout">
            <a:avLst>
              <a:gd name="adj1" fmla="val -36335"/>
              <a:gd name="adj2" fmla="val 53993"/>
              <a:gd name="adj3" fmla="val 16667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66" name="Rectangle 65"/>
          <p:cNvSpPr/>
          <p:nvPr/>
        </p:nvSpPr>
        <p:spPr>
          <a:xfrm>
            <a:off x="1008450" y="2134320"/>
            <a:ext cx="170739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900" dirty="0"/>
              <a:t>New Question</a:t>
            </a:r>
            <a:endParaRPr lang="en-AU" sz="900" dirty="0"/>
          </a:p>
        </p:txBody>
      </p:sp>
      <p:sp>
        <p:nvSpPr>
          <p:cNvPr id="70" name="Rounded Rectangular Callout 69"/>
          <p:cNvSpPr/>
          <p:nvPr/>
        </p:nvSpPr>
        <p:spPr>
          <a:xfrm rot="5400000">
            <a:off x="1235238" y="2223601"/>
            <a:ext cx="196264" cy="573010"/>
          </a:xfrm>
          <a:prstGeom prst="wedgeRoundRectCallout">
            <a:avLst>
              <a:gd name="adj1" fmla="val -29386"/>
              <a:gd name="adj2" fmla="val 65386"/>
              <a:gd name="adj3" fmla="val 16667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/>
          </a:p>
        </p:txBody>
      </p:sp>
      <p:sp>
        <p:nvSpPr>
          <p:cNvPr id="71" name="Rectangle 70"/>
          <p:cNvSpPr/>
          <p:nvPr/>
        </p:nvSpPr>
        <p:spPr>
          <a:xfrm>
            <a:off x="1021224" y="2405606"/>
            <a:ext cx="170739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00" dirty="0"/>
              <a:t>Answer</a:t>
            </a:r>
            <a:endParaRPr lang="en-AU" sz="900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3027542" y="1450534"/>
            <a:ext cx="0" cy="1194086"/>
          </a:xfrm>
          <a:prstGeom prst="line">
            <a:avLst/>
          </a:prstGeom>
          <a:ln w="5080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3027542" y="2390654"/>
            <a:ext cx="0" cy="2326935"/>
          </a:xfrm>
          <a:prstGeom prst="line">
            <a:avLst/>
          </a:prstGeom>
          <a:ln w="50800"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ounded Rectangle 72"/>
          <p:cNvSpPr/>
          <p:nvPr/>
        </p:nvSpPr>
        <p:spPr>
          <a:xfrm>
            <a:off x="3955391" y="1064999"/>
            <a:ext cx="2491740" cy="4669155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 dirty="0"/>
          </a:p>
        </p:txBody>
      </p:sp>
      <p:grpSp>
        <p:nvGrpSpPr>
          <p:cNvPr id="74" name="Group 73"/>
          <p:cNvGrpSpPr/>
          <p:nvPr/>
        </p:nvGrpSpPr>
        <p:grpSpPr>
          <a:xfrm>
            <a:off x="4317470" y="5027656"/>
            <a:ext cx="1824703" cy="653626"/>
            <a:chOff x="874236" y="5520554"/>
            <a:chExt cx="2432937" cy="871501"/>
          </a:xfrm>
        </p:grpSpPr>
        <p:grpSp>
          <p:nvGrpSpPr>
            <p:cNvPr id="75" name="Group 74"/>
            <p:cNvGrpSpPr/>
            <p:nvPr/>
          </p:nvGrpSpPr>
          <p:grpSpPr>
            <a:xfrm>
              <a:off x="874236" y="5520554"/>
              <a:ext cx="2401038" cy="871501"/>
              <a:chOff x="866648" y="5755307"/>
              <a:chExt cx="2004268" cy="691699"/>
            </a:xfrm>
          </p:grpSpPr>
          <p:sp>
            <p:nvSpPr>
              <p:cNvPr id="78" name="Oval 77"/>
              <p:cNvSpPr/>
              <p:nvPr/>
            </p:nvSpPr>
            <p:spPr>
              <a:xfrm>
                <a:off x="2156904" y="5755307"/>
                <a:ext cx="714012" cy="691699"/>
              </a:xfrm>
              <a:prstGeom prst="ellipse">
                <a:avLst/>
              </a:prstGeom>
              <a:solidFill>
                <a:srgbClr val="FF99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1350"/>
              </a:p>
            </p:txBody>
          </p:sp>
          <p:sp>
            <p:nvSpPr>
              <p:cNvPr id="79" name="TextBox 78"/>
              <p:cNvSpPr txBox="1"/>
              <p:nvPr/>
            </p:nvSpPr>
            <p:spPr>
              <a:xfrm>
                <a:off x="866648" y="6122646"/>
                <a:ext cx="735424" cy="2442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AU" sz="900" dirty="0"/>
                  <a:t>With Syan</a:t>
                </a:r>
              </a:p>
            </p:txBody>
          </p:sp>
          <p:pic>
            <p:nvPicPr>
              <p:cNvPr id="80" name="Picture 4" descr="Free Microphone Icon, Symbol. Download in SVG &amp; PNG Formats.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7392" y="5785943"/>
                <a:ext cx="371992" cy="3719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76" name="Picture 12" descr="Wellbeing Icons - Free SVG &amp; PNG Wellbeing Images - Noun Projec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9147" y="5646141"/>
              <a:ext cx="376894" cy="3768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7" name="TextBox 76"/>
            <p:cNvSpPr txBox="1"/>
            <p:nvPr/>
          </p:nvSpPr>
          <p:spPr>
            <a:xfrm>
              <a:off x="2391965" y="6023035"/>
              <a:ext cx="915208" cy="307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r>
                <a:rPr lang="en-AU" sz="900" dirty="0"/>
                <a:t>Soul Space</a:t>
              </a:r>
              <a:endParaRPr lang="en-AU" sz="900" dirty="0"/>
            </a:p>
          </p:txBody>
        </p:sp>
      </p:grpSp>
      <p:pic>
        <p:nvPicPr>
          <p:cNvPr id="102" name="Picture 10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24" r="5410" b="15072"/>
          <a:stretch>
            <a:fillRect/>
          </a:stretch>
        </p:blipFill>
        <p:spPr>
          <a:xfrm>
            <a:off x="2701471" y="1466230"/>
            <a:ext cx="296268" cy="302910"/>
          </a:xfrm>
          <a:custGeom>
            <a:avLst/>
            <a:gdLst>
              <a:gd name="connsiteX0" fmla="*/ 947786 w 2923282"/>
              <a:gd name="connsiteY0" fmla="*/ 0 h 2988815"/>
              <a:gd name="connsiteX1" fmla="*/ 1975496 w 2923282"/>
              <a:gd name="connsiteY1" fmla="*/ 0 h 2988815"/>
              <a:gd name="connsiteX2" fmla="*/ 2923282 w 2923282"/>
              <a:gd name="connsiteY2" fmla="*/ 947786 h 2988815"/>
              <a:gd name="connsiteX3" fmla="*/ 2923282 w 2923282"/>
              <a:gd name="connsiteY3" fmla="*/ 2041029 h 2988815"/>
              <a:gd name="connsiteX4" fmla="*/ 1975496 w 2923282"/>
              <a:gd name="connsiteY4" fmla="*/ 2988815 h 2988815"/>
              <a:gd name="connsiteX5" fmla="*/ 947786 w 2923282"/>
              <a:gd name="connsiteY5" fmla="*/ 2988815 h 2988815"/>
              <a:gd name="connsiteX6" fmla="*/ 0 w 2923282"/>
              <a:gd name="connsiteY6" fmla="*/ 2041029 h 2988815"/>
              <a:gd name="connsiteX7" fmla="*/ 0 w 2923282"/>
              <a:gd name="connsiteY7" fmla="*/ 947786 h 2988815"/>
              <a:gd name="connsiteX8" fmla="*/ 947786 w 2923282"/>
              <a:gd name="connsiteY8" fmla="*/ 0 h 2988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23282" h="2988815">
                <a:moveTo>
                  <a:pt x="947786" y="0"/>
                </a:moveTo>
                <a:lnTo>
                  <a:pt x="1975496" y="0"/>
                </a:lnTo>
                <a:cubicBezTo>
                  <a:pt x="2498944" y="0"/>
                  <a:pt x="2923282" y="424338"/>
                  <a:pt x="2923282" y="947786"/>
                </a:cubicBezTo>
                <a:lnTo>
                  <a:pt x="2923282" y="2041029"/>
                </a:lnTo>
                <a:cubicBezTo>
                  <a:pt x="2923282" y="2564477"/>
                  <a:pt x="2498944" y="2988815"/>
                  <a:pt x="1975496" y="2988815"/>
                </a:cubicBezTo>
                <a:lnTo>
                  <a:pt x="947786" y="2988815"/>
                </a:lnTo>
                <a:cubicBezTo>
                  <a:pt x="424338" y="2988815"/>
                  <a:pt x="0" y="2564477"/>
                  <a:pt x="0" y="2041029"/>
                </a:cubicBezTo>
                <a:lnTo>
                  <a:pt x="0" y="947786"/>
                </a:lnTo>
                <a:cubicBezTo>
                  <a:pt x="0" y="424338"/>
                  <a:pt x="424338" y="0"/>
                  <a:pt x="947786" y="0"/>
                </a:cubicBezTo>
                <a:close/>
              </a:path>
            </a:pathLst>
          </a:custGeom>
        </p:spPr>
      </p:pic>
      <p:pic>
        <p:nvPicPr>
          <p:cNvPr id="103" name="Picture 10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3" t="1294" r="1633" b="1294"/>
          <a:stretch>
            <a:fillRect/>
          </a:stretch>
        </p:blipFill>
        <p:spPr>
          <a:xfrm>
            <a:off x="711241" y="1882327"/>
            <a:ext cx="292907" cy="294965"/>
          </a:xfrm>
          <a:custGeom>
            <a:avLst/>
            <a:gdLst>
              <a:gd name="connsiteX0" fmla="*/ 3316975 w 6633950"/>
              <a:gd name="connsiteY0" fmla="*/ 0 h 6680580"/>
              <a:gd name="connsiteX1" fmla="*/ 6633950 w 6633950"/>
              <a:gd name="connsiteY1" fmla="*/ 3340290 h 6680580"/>
              <a:gd name="connsiteX2" fmla="*/ 3316975 w 6633950"/>
              <a:gd name="connsiteY2" fmla="*/ 6680580 h 6680580"/>
              <a:gd name="connsiteX3" fmla="*/ 0 w 6633950"/>
              <a:gd name="connsiteY3" fmla="*/ 3340290 h 6680580"/>
              <a:gd name="connsiteX4" fmla="*/ 3316975 w 6633950"/>
              <a:gd name="connsiteY4" fmla="*/ 0 h 66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33950" h="6680580">
                <a:moveTo>
                  <a:pt x="3316975" y="0"/>
                </a:moveTo>
                <a:cubicBezTo>
                  <a:pt x="5148890" y="0"/>
                  <a:pt x="6633950" y="1495499"/>
                  <a:pt x="6633950" y="3340290"/>
                </a:cubicBezTo>
                <a:cubicBezTo>
                  <a:pt x="6633950" y="5185081"/>
                  <a:pt x="5148890" y="6680580"/>
                  <a:pt x="3316975" y="6680580"/>
                </a:cubicBezTo>
                <a:cubicBezTo>
                  <a:pt x="1485060" y="6680580"/>
                  <a:pt x="0" y="5185081"/>
                  <a:pt x="0" y="3340290"/>
                </a:cubicBezTo>
                <a:cubicBezTo>
                  <a:pt x="0" y="1495499"/>
                  <a:pt x="1485060" y="0"/>
                  <a:pt x="3316975" y="0"/>
                </a:cubicBezTo>
                <a:close/>
              </a:path>
            </a:pathLst>
          </a:custGeom>
        </p:spPr>
      </p:pic>
      <p:pic>
        <p:nvPicPr>
          <p:cNvPr id="104" name="Picture 10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524" r="5410" b="15072"/>
          <a:stretch>
            <a:fillRect/>
          </a:stretch>
        </p:blipFill>
        <p:spPr>
          <a:xfrm>
            <a:off x="2701471" y="2129180"/>
            <a:ext cx="296268" cy="302910"/>
          </a:xfrm>
          <a:custGeom>
            <a:avLst/>
            <a:gdLst>
              <a:gd name="connsiteX0" fmla="*/ 947786 w 2923282"/>
              <a:gd name="connsiteY0" fmla="*/ 0 h 2988815"/>
              <a:gd name="connsiteX1" fmla="*/ 1975496 w 2923282"/>
              <a:gd name="connsiteY1" fmla="*/ 0 h 2988815"/>
              <a:gd name="connsiteX2" fmla="*/ 2923282 w 2923282"/>
              <a:gd name="connsiteY2" fmla="*/ 947786 h 2988815"/>
              <a:gd name="connsiteX3" fmla="*/ 2923282 w 2923282"/>
              <a:gd name="connsiteY3" fmla="*/ 2041029 h 2988815"/>
              <a:gd name="connsiteX4" fmla="*/ 1975496 w 2923282"/>
              <a:gd name="connsiteY4" fmla="*/ 2988815 h 2988815"/>
              <a:gd name="connsiteX5" fmla="*/ 947786 w 2923282"/>
              <a:gd name="connsiteY5" fmla="*/ 2988815 h 2988815"/>
              <a:gd name="connsiteX6" fmla="*/ 0 w 2923282"/>
              <a:gd name="connsiteY6" fmla="*/ 2041029 h 2988815"/>
              <a:gd name="connsiteX7" fmla="*/ 0 w 2923282"/>
              <a:gd name="connsiteY7" fmla="*/ 947786 h 2988815"/>
              <a:gd name="connsiteX8" fmla="*/ 947786 w 2923282"/>
              <a:gd name="connsiteY8" fmla="*/ 0 h 2988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23282" h="2988815">
                <a:moveTo>
                  <a:pt x="947786" y="0"/>
                </a:moveTo>
                <a:lnTo>
                  <a:pt x="1975496" y="0"/>
                </a:lnTo>
                <a:cubicBezTo>
                  <a:pt x="2498944" y="0"/>
                  <a:pt x="2923282" y="424338"/>
                  <a:pt x="2923282" y="947786"/>
                </a:cubicBezTo>
                <a:lnTo>
                  <a:pt x="2923282" y="2041029"/>
                </a:lnTo>
                <a:cubicBezTo>
                  <a:pt x="2923282" y="2564477"/>
                  <a:pt x="2498944" y="2988815"/>
                  <a:pt x="1975496" y="2988815"/>
                </a:cubicBezTo>
                <a:lnTo>
                  <a:pt x="947786" y="2988815"/>
                </a:lnTo>
                <a:cubicBezTo>
                  <a:pt x="424338" y="2988815"/>
                  <a:pt x="0" y="2564477"/>
                  <a:pt x="0" y="2041029"/>
                </a:cubicBezTo>
                <a:lnTo>
                  <a:pt x="0" y="947786"/>
                </a:lnTo>
                <a:cubicBezTo>
                  <a:pt x="0" y="424338"/>
                  <a:pt x="424338" y="0"/>
                  <a:pt x="947786" y="0"/>
                </a:cubicBezTo>
                <a:close/>
              </a:path>
            </a:pathLst>
          </a:custGeom>
        </p:spPr>
      </p:pic>
      <p:pic>
        <p:nvPicPr>
          <p:cNvPr id="105" name="Picture 10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33" t="1294" r="1633" b="1294"/>
          <a:stretch>
            <a:fillRect/>
          </a:stretch>
        </p:blipFill>
        <p:spPr>
          <a:xfrm>
            <a:off x="711241" y="2397565"/>
            <a:ext cx="292907" cy="294965"/>
          </a:xfrm>
          <a:custGeom>
            <a:avLst/>
            <a:gdLst>
              <a:gd name="connsiteX0" fmla="*/ 3316975 w 6633950"/>
              <a:gd name="connsiteY0" fmla="*/ 0 h 6680580"/>
              <a:gd name="connsiteX1" fmla="*/ 6633950 w 6633950"/>
              <a:gd name="connsiteY1" fmla="*/ 3340290 h 6680580"/>
              <a:gd name="connsiteX2" fmla="*/ 3316975 w 6633950"/>
              <a:gd name="connsiteY2" fmla="*/ 6680580 h 6680580"/>
              <a:gd name="connsiteX3" fmla="*/ 0 w 6633950"/>
              <a:gd name="connsiteY3" fmla="*/ 3340290 h 6680580"/>
              <a:gd name="connsiteX4" fmla="*/ 3316975 w 6633950"/>
              <a:gd name="connsiteY4" fmla="*/ 0 h 66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633950" h="6680580">
                <a:moveTo>
                  <a:pt x="3316975" y="0"/>
                </a:moveTo>
                <a:cubicBezTo>
                  <a:pt x="5148890" y="0"/>
                  <a:pt x="6633950" y="1495499"/>
                  <a:pt x="6633950" y="3340290"/>
                </a:cubicBezTo>
                <a:cubicBezTo>
                  <a:pt x="6633950" y="5185081"/>
                  <a:pt x="5148890" y="6680580"/>
                  <a:pt x="3316975" y="6680580"/>
                </a:cubicBezTo>
                <a:cubicBezTo>
                  <a:pt x="1485060" y="6680580"/>
                  <a:pt x="0" y="5185081"/>
                  <a:pt x="0" y="3340290"/>
                </a:cubicBezTo>
                <a:cubicBezTo>
                  <a:pt x="0" y="1495499"/>
                  <a:pt x="1485060" y="0"/>
                  <a:pt x="3316975" y="0"/>
                </a:cubicBezTo>
                <a:close/>
              </a:path>
            </a:pathLst>
          </a:custGeom>
        </p:spPr>
      </p:pic>
      <p:pic>
        <p:nvPicPr>
          <p:cNvPr id="108" name="Picture 10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0104" y="1310856"/>
            <a:ext cx="2366009" cy="3665990"/>
          </a:xfrm>
          <a:prstGeom prst="rect">
            <a:avLst/>
          </a:prstGeom>
        </p:spPr>
      </p:pic>
      <p:sp>
        <p:nvSpPr>
          <p:cNvPr id="109" name="Rounded Rectangle 108"/>
          <p:cNvSpPr/>
          <p:nvPr/>
        </p:nvSpPr>
        <p:spPr>
          <a:xfrm>
            <a:off x="6560122" y="1064999"/>
            <a:ext cx="2491740" cy="4669155"/>
          </a:xfrm>
          <a:prstGeom prst="roundRect">
            <a:avLst>
              <a:gd name="adj" fmla="val 11621"/>
            </a:avLst>
          </a:prstGeom>
          <a:solidFill>
            <a:schemeClr val="accent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1350" dirty="0"/>
          </a:p>
        </p:txBody>
      </p:sp>
      <p:grpSp>
        <p:nvGrpSpPr>
          <p:cNvPr id="110" name="Group 109"/>
          <p:cNvGrpSpPr/>
          <p:nvPr/>
        </p:nvGrpSpPr>
        <p:grpSpPr>
          <a:xfrm>
            <a:off x="6922201" y="5027656"/>
            <a:ext cx="1824703" cy="653626"/>
            <a:chOff x="874236" y="5520554"/>
            <a:chExt cx="2432937" cy="871501"/>
          </a:xfrm>
        </p:grpSpPr>
        <p:grpSp>
          <p:nvGrpSpPr>
            <p:cNvPr id="111" name="Group 110"/>
            <p:cNvGrpSpPr/>
            <p:nvPr/>
          </p:nvGrpSpPr>
          <p:grpSpPr>
            <a:xfrm>
              <a:off x="874236" y="5520554"/>
              <a:ext cx="2401038" cy="871501"/>
              <a:chOff x="866648" y="5755307"/>
              <a:chExt cx="2004268" cy="691699"/>
            </a:xfrm>
          </p:grpSpPr>
          <p:sp>
            <p:nvSpPr>
              <p:cNvPr id="122" name="Oval 121"/>
              <p:cNvSpPr/>
              <p:nvPr/>
            </p:nvSpPr>
            <p:spPr>
              <a:xfrm>
                <a:off x="2156904" y="5755307"/>
                <a:ext cx="714012" cy="691699"/>
              </a:xfrm>
              <a:prstGeom prst="ellipse">
                <a:avLst/>
              </a:prstGeom>
              <a:solidFill>
                <a:srgbClr val="FF99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1350"/>
              </a:p>
            </p:txBody>
          </p:sp>
          <p:sp>
            <p:nvSpPr>
              <p:cNvPr id="123" name="TextBox 122"/>
              <p:cNvSpPr txBox="1"/>
              <p:nvPr/>
            </p:nvSpPr>
            <p:spPr>
              <a:xfrm>
                <a:off x="866648" y="6122646"/>
                <a:ext cx="735424" cy="24427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AU" sz="900" dirty="0"/>
                  <a:t>With Syan</a:t>
                </a:r>
              </a:p>
            </p:txBody>
          </p:sp>
          <p:pic>
            <p:nvPicPr>
              <p:cNvPr id="124" name="Picture 4" descr="Free Microphone Icon, Symbol. Download in SVG &amp; PNG Formats.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67392" y="5785943"/>
                <a:ext cx="371992" cy="3719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12" name="Picture 12" descr="Wellbeing Icons - Free SVG &amp; PNG Wellbeing Images - Noun Project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59147" y="5646141"/>
              <a:ext cx="376894" cy="3768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1" name="TextBox 120"/>
            <p:cNvSpPr txBox="1"/>
            <p:nvPr/>
          </p:nvSpPr>
          <p:spPr>
            <a:xfrm>
              <a:off x="2391965" y="6023035"/>
              <a:ext cx="915208" cy="30777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ctr">
                <a:defRPr sz="1200"/>
              </a:lvl1pPr>
            </a:lstStyle>
            <a:p>
              <a:r>
                <a:rPr lang="en-AU" sz="900" dirty="0"/>
                <a:t>Soul Space</a:t>
              </a:r>
              <a:endParaRPr lang="en-AU" sz="900" dirty="0"/>
            </a:p>
          </p:txBody>
        </p:sp>
      </p:grpSp>
      <p:cxnSp>
        <p:nvCxnSpPr>
          <p:cNvPr id="126" name="Straight Arrow Connector 125"/>
          <p:cNvCxnSpPr/>
          <p:nvPr/>
        </p:nvCxnSpPr>
        <p:spPr>
          <a:xfrm flipH="1">
            <a:off x="6694537" y="1219060"/>
            <a:ext cx="193226" cy="0"/>
          </a:xfrm>
          <a:prstGeom prst="straightConnector1">
            <a:avLst/>
          </a:prstGeom>
          <a:ln w="508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7" name="Picture 12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4835" y="1311724"/>
            <a:ext cx="2328315" cy="366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227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Makes RedDust Different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AI + Music + Wellbeing</a:t>
            </a:r>
          </a:p>
          <a:p>
            <a:pPr>
              <a:defRPr sz="2400"/>
            </a:pPr>
            <a:r>
              <a:t>• Personalised recommendations</a:t>
            </a:r>
          </a:p>
          <a:p>
            <a:pPr>
              <a:defRPr sz="2400"/>
            </a:pPr>
            <a:r>
              <a:t>• Dynamic Soul Score</a:t>
            </a:r>
          </a:p>
          <a:p>
            <a:pPr>
              <a:defRPr sz="2400"/>
            </a:pPr>
            <a:r>
              <a:t>• Explainable AI</a:t>
            </a:r>
          </a:p>
          <a:p>
            <a:pPr>
              <a:defRPr sz="2400"/>
            </a:pPr>
            <a:r>
              <a:t>• 24/7 companion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Soul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Initially tracks Calmness, Energy, Focus, Motivation, Connection, Self-Belief, Purpose and Joy.</a:t>
            </a:r>
          </a:p>
          <a:p>
            <a:pPr>
              <a:defRPr sz="2400"/>
            </a:pPr>
            <a:r>
              <a:t>It adapts as your life changes.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Exam preparation</a:t>
            </a:r>
          </a:p>
          <a:p>
            <a:pPr>
              <a:defRPr sz="2400"/>
            </a:pPr>
            <a:r>
              <a:t>• Daily commute</a:t>
            </a:r>
          </a:p>
          <a:p>
            <a:pPr>
              <a:defRPr sz="2400"/>
            </a:pPr>
            <a:r>
              <a:t>• Stress after work</a:t>
            </a:r>
          </a:p>
          <a:p>
            <a:pPr>
              <a:defRPr sz="2400"/>
            </a:pPr>
            <a:r>
              <a:t>• Exercise</a:t>
            </a:r>
          </a:p>
          <a:p>
            <a:pPr>
              <a:defRPr sz="2400"/>
            </a:pPr>
            <a:r>
              <a:t>• Relaxation before sleep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Privacy &amp; Ethics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• You choose what to share</a:t>
            </a:r>
          </a:p>
          <a:p>
            <a:pPr>
              <a:defRPr sz="2400"/>
            </a:pPr>
            <a:r>
              <a:t>• Location is optional</a:t>
            </a:r>
          </a:p>
          <a:p>
            <a:pPr>
              <a:defRPr sz="2400"/>
            </a:pPr>
            <a:r>
              <a:t>• Not a medical device</a:t>
            </a:r>
          </a:p>
          <a:p>
            <a:pPr>
              <a:defRPr sz="2400"/>
            </a:pPr>
            <a:r>
              <a:t>• Not psychotherapy</a:t>
            </a:r>
          </a:p>
          <a:p>
            <a:pPr>
              <a:defRPr sz="2400"/>
            </a:pPr>
            <a:r>
              <a:t>• Everyday wellbeing companion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Your Feedback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We are validating:</a:t>
            </a:r>
          </a:p>
          <a:p>
            <a:pPr>
              <a:defRPr sz="2400"/>
            </a:pPr>
            <a:r>
              <a:t>• The problem</a:t>
            </a:r>
          </a:p>
          <a:p>
            <a:pPr>
              <a:defRPr sz="2400"/>
            </a:pPr>
            <a:r>
              <a:t>• The solution</a:t>
            </a:r>
          </a:p>
          <a:p>
            <a:pPr>
              <a:defRPr sz="2400"/>
            </a:pPr>
            <a:r>
              <a:t>• The features</a:t>
            </a:r>
          </a:p>
          <a:p>
            <a:pPr>
              <a:defRPr sz="2400"/>
            </a:pPr>
            <a:r>
              <a:t>• Willingness to use and subscribe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Survey Instructions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Please answer honestly based only on this concept.</a:t>
            </a:r>
          </a:p>
          <a:p>
            <a:pPr>
              <a:defRPr sz="2400"/>
            </a:pPr>
            <a:r>
              <a:t>There are no right or wrong answers.</a:t>
            </a:r>
          </a:p>
          <a:p>
            <a:pPr>
              <a:defRPr sz="2400"/>
            </a:pPr>
            <a:r>
              <a:t>Your feedback will directly influence RedDust's design.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377</Words>
  <Application>Microsoft Office PowerPoint</Application>
  <PresentationFormat>On-screen Show (4:3)</PresentationFormat>
  <Paragraphs>85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Candara</vt:lpstr>
      <vt:lpstr>Wingdings</vt:lpstr>
      <vt:lpstr>Office Theme</vt:lpstr>
      <vt:lpstr>RedDust – Customer Research</vt:lpstr>
      <vt:lpstr>The Problem</vt:lpstr>
      <vt:lpstr>Our Vision</vt:lpstr>
      <vt:lpstr>PowerPoint Presentation</vt:lpstr>
      <vt:lpstr>How RedDust Works</vt:lpstr>
      <vt:lpstr>PowerPoint Presentation</vt:lpstr>
      <vt:lpstr>PowerPoint Presentation</vt:lpstr>
      <vt:lpstr>PowerPoint Presentation</vt:lpstr>
      <vt:lpstr>PowerPoint Presentation</vt:lpstr>
      <vt:lpstr>What Makes RedDust Different</vt:lpstr>
      <vt:lpstr>The Soul Score</vt:lpstr>
      <vt:lpstr>Example Use Cases</vt:lpstr>
      <vt:lpstr>Privacy &amp; Ethics</vt:lpstr>
      <vt:lpstr>Why Your Feedback Matters</vt:lpstr>
      <vt:lpstr>Survey Instructions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RedDust – Customer Research</dc:title>
  <dc:subject/>
  <dc:creator/>
  <cp:keywords/>
  <dc:description>generated using python-pptx</dc:description>
  <cp:lastModifiedBy>User</cp:lastModifiedBy>
  <cp:revision>2</cp:revision>
  <dcterms:created xsi:type="dcterms:W3CDTF">2013-01-27T09:14:16Z</dcterms:created>
  <dcterms:modified xsi:type="dcterms:W3CDTF">2026-07-01T23:41:47Z</dcterms:modified>
  <cp:category/>
</cp:coreProperties>
</file>