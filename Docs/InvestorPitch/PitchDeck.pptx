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69" r:id="rId7"/>
    <p:sldId id="270" r:id="rId8"/>
    <p:sldId id="271" r:id="rId9"/>
    <p:sldId id="274" r:id="rId10"/>
    <p:sldId id="273" r:id="rId11"/>
    <p:sldId id="275" r:id="rId12"/>
    <p:sldId id="276" r:id="rId13"/>
    <p:sldId id="277" r:id="rId14"/>
    <p:sldId id="278" r:id="rId15"/>
    <p:sldId id="279" r:id="rId16"/>
    <p:sldId id="280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80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75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69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0230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610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27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95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84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12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7164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16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520DA-D6CB-4886-BF15-E8B36DC69742}" type="datetimeFigureOut">
              <a:rPr lang="en-AU" smtClean="0"/>
              <a:t>23/07/2026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A5E6B-A6FC-43CF-8087-23AACC7CC4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9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175074"/>
            <a:ext cx="12191999" cy="1884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AI Based RJ and Wellbeing Companion</a:t>
            </a:r>
            <a: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Helping people improve wellbeing, focus, resilience and motivation through personalized music and interaction</a:t>
            </a:r>
            <a:endParaRPr lang="en-A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2946395" y="3306329"/>
            <a:ext cx="294729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UNSW Founders’ Members: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Anirban Chakrabarty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Tanvi Multani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65255" y="3322744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Anodiam Members: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Sayan Basak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Soubhanik Patra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Nathan Young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Mannat Gupta</a:t>
            </a:r>
          </a:p>
        </p:txBody>
      </p:sp>
    </p:spTree>
    <p:extLst>
      <p:ext uri="{BB962C8B-B14F-4D97-AF65-F5344CB8AC3E}">
        <p14:creationId xmlns:p14="http://schemas.microsoft.com/office/powerpoint/2010/main" val="15587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55308" y="2112546"/>
            <a:ext cx="523240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People increasingly struggle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with: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Stress and anxiety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Loneliness and social isolation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Lack of motivation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Poor focus and productivity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Digital overload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" y="1371959"/>
            <a:ext cx="12192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Problem – Modern Life is Breaking Human Wellbeing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3601" y="3654472"/>
            <a:ext cx="4461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Existing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solutions are fragmented: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Music apps play songs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Wellness apps track wellbeing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AI assistants answer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questions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623184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None combine 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AI driven,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personalized wellbeing 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with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music-based intervention.</a:t>
            </a:r>
            <a:endParaRPr lang="en-AU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99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29477" y="2295464"/>
            <a:ext cx="4008349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It combines: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Conversational 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Behavioral </a:t>
            </a: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science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</a:t>
            </a: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music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Mood and wellbeing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tracking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1350187"/>
            <a:ext cx="121920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AU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Solution – </a:t>
            </a: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RedDust: </a:t>
            </a:r>
            <a:r>
              <a:rPr lang="en-US" sz="2400" dirty="0">
                <a:solidFill>
                  <a:srgbClr val="FFFFEB"/>
                </a:solidFill>
                <a:latin typeface="Candara" panose="020E0502030303020204" pitchFamily="34" charset="0"/>
              </a:rPr>
              <a:t>AI Radio Jockey </a:t>
            </a: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and Wellbeing Companion</a:t>
            </a:r>
            <a:endParaRPr lang="en-US" sz="2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72855" y="2287961"/>
            <a:ext cx="323548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understands: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Your mood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Current situation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Goals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Preferences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Listening history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122446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And creates personalized experiences that guide you through your day.</a:t>
            </a:r>
          </a:p>
        </p:txBody>
      </p:sp>
    </p:spTree>
    <p:extLst>
      <p:ext uri="{BB962C8B-B14F-4D97-AF65-F5344CB8AC3E}">
        <p14:creationId xmlns:p14="http://schemas.microsoft.com/office/powerpoint/2010/main" val="339271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022670"/>
            <a:ext cx="12191999" cy="86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Product Experience – A Day with RedDust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4389" y="2234033"/>
            <a:ext cx="308669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Morning:</a:t>
            </a:r>
          </a:p>
          <a:p>
            <a:pPr lvl="1">
              <a:lnSpc>
                <a:spcPct val="150000"/>
              </a:lnSpc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“Help me focus for work."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Creates: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Focus playlist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Productivity guidance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Motivational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check-in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347414"/>
            <a:ext cx="12191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Outcome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: Improved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mood, resilience and wellbeing throughout the 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2743" y="2301241"/>
            <a:ext cx="372835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Afternoon: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“I am feeling stressed."</a:t>
            </a:r>
            <a:endParaRPr lang="en-US" sz="16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Creates: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Stress recovery music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Guided reflection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Emotional support conversation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21099" y="2363321"/>
            <a:ext cx="34096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Evening: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“I want to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relax."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Creates: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Relaxation journey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Personal radio experience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Sleep preparation playlist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47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15329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Why We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7987" y="1700377"/>
            <a:ext cx="7717176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Unlike music streaming platforms, RedDust is not just recommending songs.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 delivers: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AI-generated radio experiences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Mood-aware playlists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 wellbeing guidance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Family-friendly and child-safe modes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Mental health trend monitoring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Voice-based interaction</a:t>
            </a:r>
          </a:p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Music becomes a wellbeing intervention, not merely entertainment.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21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392781"/>
            <a:ext cx="121919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Market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8" y="5216753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Combined TAM exceeds tens of billions of dollars globally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01810" y="2131166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Global Trends: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Digital </a:t>
            </a: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wellbeing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AI companions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Mental health technology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content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3353" y="2131166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Initial Markets: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Students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Working professionals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Parents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Retirees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67581" y="2096084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Expansion Markets: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Schools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Universities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Corporate wellbeing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Healthcare and aged care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92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153294"/>
            <a:ext cx="121919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Core Technology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5927" y="3415676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Wellbeing Layer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Wellbeing scoring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Behavioral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Progress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interventions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83294" y="1608194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AI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Layer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Large Language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Personalization Engine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Mood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Recommendation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581" y="2458937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Music Layer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Streaming integrations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Playlist generation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Smart ranking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Child-safe filtering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72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400038"/>
            <a:ext cx="121919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Business Model</a:t>
            </a:r>
          </a:p>
          <a:p>
            <a:pPr algn="ctr"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Freemium Consumer Model</a:t>
            </a:r>
            <a:endParaRPr lang="en-US" sz="2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05869" y="2675446"/>
            <a:ext cx="330310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Future Revenue: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Schools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Corporate wellbeing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Healthcare partnerships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Premium content partnerships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72097" y="2653675"/>
            <a:ext cx="2947291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Free: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Basic playlists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Limited AI interactions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1068" y="2640364"/>
            <a:ext cx="39127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Subscription + Trial Version: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Unlimited AI companion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Advanced wellbeing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 radio shows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Family accounts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Child-safe experiences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1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138782"/>
            <a:ext cx="1219199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Go-To-Market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5869" y="1753791"/>
            <a:ext cx="330310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Phase 3: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Schools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Universities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Corporate wellness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programs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72097" y="1761048"/>
            <a:ext cx="2947291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Phase 1: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Beta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Families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Students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Early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adopters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95871" y="1762251"/>
            <a:ext cx="3230529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Phase 2: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Social media growth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Influencer partnerships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Community-driven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5871" y="3816023"/>
            <a:ext cx="3230529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Growth Channels: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LinkedIn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YouTube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FFFEB"/>
                </a:solidFill>
                <a:latin typeface="Candara" panose="020E0502030303020204" pitchFamily="34" charset="0"/>
              </a:rPr>
              <a:t>TikTok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Parent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communities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05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60284" y="156387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541563" y="30664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1052839" y="5903898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9100454" y="6217814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28685" y="1952889"/>
            <a:ext cx="7271657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Our Vision:</a:t>
            </a:r>
            <a:endParaRPr lang="en-US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To become the world's most trusted AI wellbeing companion, helping millions of people improve happiness, resilience, productivity and quality of life through 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</a:t>
            </a: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conversations and music</a:t>
            </a: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.</a:t>
            </a:r>
            <a:endParaRPr lang="en-US" sz="16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0" lvl="1" algn="just">
              <a:lnSpc>
                <a:spcPct val="200000"/>
              </a:lnSpc>
            </a:pP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Seeking:</a:t>
            </a:r>
            <a:endParaRPr lang="en-US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Strategic partners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Pilot customers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EB"/>
                </a:solidFill>
                <a:latin typeface="Candara" panose="020E0502030303020204" pitchFamily="34" charset="0"/>
              </a:rPr>
              <a:t>Investors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Advisors</a:t>
            </a:r>
          </a:p>
          <a:p>
            <a:pPr marL="0" lvl="1" algn="just">
              <a:lnSpc>
                <a:spcPct val="200000"/>
              </a:lnSpc>
            </a:pP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RedDust 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– The future </a:t>
            </a: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of AI-powered wellbeing.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" y="885733"/>
            <a:ext cx="12192000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2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Vision</a:t>
            </a:r>
          </a:p>
          <a:p>
            <a:pPr lvl="1" algn="ctr">
              <a:lnSpc>
                <a:spcPct val="150000"/>
              </a:lnSpc>
            </a:pPr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We believe music is one of humanity's most powerful tools for wellbeing</a:t>
            </a:r>
            <a:r>
              <a:rPr lang="en-US" dirty="0" smtClean="0">
                <a:solidFill>
                  <a:srgbClr val="FFFFEB"/>
                </a:solidFill>
                <a:latin typeface="Candara" panose="020E0502030303020204" pitchFamily="34" charset="0"/>
              </a:rPr>
              <a:t>.</a:t>
            </a:r>
            <a:endParaRPr lang="en-US" sz="2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22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25661" y="2430780"/>
            <a:ext cx="5810079" cy="4366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3" name="Rounded Rectangle 82"/>
          <p:cNvSpPr/>
          <p:nvPr/>
        </p:nvSpPr>
        <p:spPr>
          <a:xfrm>
            <a:off x="6006376" y="4023360"/>
            <a:ext cx="5499824" cy="2659380"/>
          </a:xfrm>
          <a:prstGeom prst="roundRect">
            <a:avLst>
              <a:gd name="adj" fmla="val 1007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Rounded Rectangle 63"/>
          <p:cNvSpPr/>
          <p:nvPr/>
        </p:nvSpPr>
        <p:spPr>
          <a:xfrm>
            <a:off x="1452198" y="1100137"/>
            <a:ext cx="3772580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cxnSp>
        <p:nvCxnSpPr>
          <p:cNvPr id="70" name="Curved Connector 69"/>
          <p:cNvCxnSpPr>
            <a:stCxn id="55" idx="0"/>
          </p:cNvCxnSpPr>
          <p:nvPr/>
        </p:nvCxnSpPr>
        <p:spPr>
          <a:xfrm rot="5400000" flipH="1" flipV="1">
            <a:off x="3494165" y="-161379"/>
            <a:ext cx="2469800" cy="3493601"/>
          </a:xfrm>
          <a:prstGeom prst="curvedConnector2">
            <a:avLst/>
          </a:prstGeom>
          <a:ln w="1270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12306" y="1225103"/>
            <a:ext cx="5523434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 Conversation      .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8" name="Rounded Rectangle 17"/>
          <p:cNvSpPr/>
          <p:nvPr/>
        </p:nvSpPr>
        <p:spPr>
          <a:xfrm>
            <a:off x="6475865" y="81985"/>
            <a:ext cx="3493826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Syan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7" name="Rounded Rectangle 16"/>
          <p:cNvSpPr/>
          <p:nvPr/>
        </p:nvSpPr>
        <p:spPr>
          <a:xfrm>
            <a:off x="5887076" y="2580337"/>
            <a:ext cx="3493826" cy="12351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6923396" y="496536"/>
            <a:ext cx="1170750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LLM</a:t>
            </a:r>
            <a:endParaRPr lang="en-AU" dirty="0"/>
          </a:p>
        </p:txBody>
      </p:sp>
      <p:sp>
        <p:nvSpPr>
          <p:cNvPr id="6" name="Rounded Rectangle 5"/>
          <p:cNvSpPr/>
          <p:nvPr/>
        </p:nvSpPr>
        <p:spPr>
          <a:xfrm>
            <a:off x="7900363" y="2709184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Auth</a:t>
            </a:r>
            <a:endParaRPr lang="en-AU" dirty="0"/>
          </a:p>
        </p:txBody>
      </p:sp>
      <p:sp>
        <p:nvSpPr>
          <p:cNvPr id="7" name="Rounded Rectangle 6"/>
          <p:cNvSpPr/>
          <p:nvPr/>
        </p:nvSpPr>
        <p:spPr>
          <a:xfrm>
            <a:off x="7900363" y="321642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9" name="Rounded Rectangle 8"/>
          <p:cNvSpPr/>
          <p:nvPr/>
        </p:nvSpPr>
        <p:spPr>
          <a:xfrm>
            <a:off x="8094146" y="49653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RAG Docs</a:t>
            </a:r>
            <a:endParaRPr lang="en-AU" dirty="0"/>
          </a:p>
        </p:txBody>
      </p:sp>
      <p:sp>
        <p:nvSpPr>
          <p:cNvPr id="11" name="Rounded Rectangle 10"/>
          <p:cNvSpPr/>
          <p:nvPr/>
        </p:nvSpPr>
        <p:spPr>
          <a:xfrm>
            <a:off x="6068833" y="417289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User1.1</a:t>
            </a:r>
            <a:endParaRPr lang="en-AU" dirty="0"/>
          </a:p>
        </p:txBody>
      </p:sp>
      <p:sp>
        <p:nvSpPr>
          <p:cNvPr id="12" name="Rounded Rectangle 11"/>
          <p:cNvSpPr/>
          <p:nvPr/>
        </p:nvSpPr>
        <p:spPr>
          <a:xfrm>
            <a:off x="7809248" y="417289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User1.2</a:t>
            </a:r>
            <a:endParaRPr lang="en-AU" dirty="0"/>
          </a:p>
        </p:txBody>
      </p:sp>
      <p:sp>
        <p:nvSpPr>
          <p:cNvPr id="13" name="Rounded Rectangle 12"/>
          <p:cNvSpPr/>
          <p:nvPr/>
        </p:nvSpPr>
        <p:spPr>
          <a:xfrm>
            <a:off x="9758354" y="417289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User1.N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9306161" y="404745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64282" y="3269878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551452" y="1013031"/>
            <a:ext cx="1" cy="1567306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652251" y="976280"/>
            <a:ext cx="28034" cy="2019575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22604" y="2995855"/>
            <a:ext cx="1688110" cy="8196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Recommended</a:t>
            </a:r>
          </a:p>
          <a:p>
            <a:pPr algn="ctr"/>
            <a:r>
              <a:rPr lang="en-US" dirty="0" smtClean="0"/>
              <a:t>Track List</a:t>
            </a:r>
            <a:endParaRPr lang="en-AU" dirty="0"/>
          </a:p>
        </p:txBody>
      </p:sp>
      <p:cxnSp>
        <p:nvCxnSpPr>
          <p:cNvPr id="28" name="Curved Connector 27"/>
          <p:cNvCxnSpPr>
            <a:endCxn id="18" idx="3"/>
          </p:cNvCxnSpPr>
          <p:nvPr/>
        </p:nvCxnSpPr>
        <p:spPr>
          <a:xfrm rot="16200000" flipV="1">
            <a:off x="9290412" y="1225247"/>
            <a:ext cx="2449888" cy="1091329"/>
          </a:xfrm>
          <a:prstGeom prst="curvedConnector2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389372" y="1299246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30" name="Rounded Rectangle 29"/>
          <p:cNvSpPr/>
          <p:nvPr/>
        </p:nvSpPr>
        <p:spPr>
          <a:xfrm>
            <a:off x="6263640" y="1611502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31" name="Rounded Rectangle 30"/>
          <p:cNvSpPr/>
          <p:nvPr/>
        </p:nvSpPr>
        <p:spPr>
          <a:xfrm>
            <a:off x="8929635" y="1599197"/>
            <a:ext cx="726936" cy="4196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cxnSp>
        <p:nvCxnSpPr>
          <p:cNvPr id="37" name="Curved Connector 36"/>
          <p:cNvCxnSpPr>
            <a:stCxn id="18" idx="1"/>
            <a:endCxn id="11" idx="1"/>
          </p:cNvCxnSpPr>
          <p:nvPr/>
        </p:nvCxnSpPr>
        <p:spPr>
          <a:xfrm rot="10800000" flipV="1">
            <a:off x="6068833" y="545968"/>
            <a:ext cx="407032" cy="3925882"/>
          </a:xfrm>
          <a:prstGeom prst="curvedConnector3">
            <a:avLst>
              <a:gd name="adj1" fmla="val 231046"/>
            </a:avLst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45973" y="491965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User2.1</a:t>
            </a:r>
            <a:endParaRPr lang="en-AU" dirty="0"/>
          </a:p>
        </p:txBody>
      </p:sp>
      <p:sp>
        <p:nvSpPr>
          <p:cNvPr id="44" name="Rounded Rectangle 43"/>
          <p:cNvSpPr/>
          <p:nvPr/>
        </p:nvSpPr>
        <p:spPr>
          <a:xfrm>
            <a:off x="7786388" y="491965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User2.2</a:t>
            </a:r>
            <a:endParaRPr lang="en-AU" dirty="0"/>
          </a:p>
        </p:txBody>
      </p:sp>
      <p:sp>
        <p:nvSpPr>
          <p:cNvPr id="45" name="Rounded Rectangle 44"/>
          <p:cNvSpPr/>
          <p:nvPr/>
        </p:nvSpPr>
        <p:spPr>
          <a:xfrm>
            <a:off x="9735494" y="491965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User2.N</a:t>
            </a:r>
            <a:endParaRPr lang="en-AU" dirty="0"/>
          </a:p>
        </p:txBody>
      </p:sp>
      <p:sp>
        <p:nvSpPr>
          <p:cNvPr id="46" name="TextBox 45"/>
          <p:cNvSpPr txBox="1"/>
          <p:nvPr/>
        </p:nvSpPr>
        <p:spPr>
          <a:xfrm>
            <a:off x="9283301" y="479421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068833" y="5946830"/>
            <a:ext cx="1606997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UserM.1</a:t>
            </a:r>
            <a:endParaRPr lang="en-AU" dirty="0"/>
          </a:p>
        </p:txBody>
      </p:sp>
      <p:sp>
        <p:nvSpPr>
          <p:cNvPr id="48" name="Rounded Rectangle 47"/>
          <p:cNvSpPr/>
          <p:nvPr/>
        </p:nvSpPr>
        <p:spPr>
          <a:xfrm>
            <a:off x="7809248" y="5946830"/>
            <a:ext cx="160757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UserM.2</a:t>
            </a:r>
            <a:endParaRPr lang="en-AU" dirty="0"/>
          </a:p>
        </p:txBody>
      </p:sp>
      <p:sp>
        <p:nvSpPr>
          <p:cNvPr id="49" name="Rounded Rectangle 48"/>
          <p:cNvSpPr/>
          <p:nvPr/>
        </p:nvSpPr>
        <p:spPr>
          <a:xfrm>
            <a:off x="9727874" y="5946830"/>
            <a:ext cx="16868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err="1" smtClean="0"/>
              <a:t>UserM.N</a:t>
            </a:r>
            <a:endParaRPr lang="en-AU" dirty="0"/>
          </a:p>
        </p:txBody>
      </p:sp>
      <p:sp>
        <p:nvSpPr>
          <p:cNvPr id="50" name="TextBox 49"/>
          <p:cNvSpPr txBox="1"/>
          <p:nvPr/>
        </p:nvSpPr>
        <p:spPr>
          <a:xfrm>
            <a:off x="9306161" y="5821384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 rot="5400000">
            <a:off x="6808959" y="5426391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 rot="5400000">
            <a:off x="8453830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 rot="5400000">
            <a:off x="10452509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4970" y="5149468"/>
            <a:ext cx="437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Avg</a:t>
            </a:r>
            <a:r>
              <a:rPr lang="en-US" dirty="0" smtClean="0"/>
              <a:t>(WS1.p)&lt;=</a:t>
            </a:r>
            <a:r>
              <a:rPr lang="en-US" dirty="0" err="1" smtClean="0"/>
              <a:t>Avg</a:t>
            </a:r>
            <a:r>
              <a:rPr lang="en-US" dirty="0" smtClean="0"/>
              <a:t>(WS2.p)&lt;=…&lt;=</a:t>
            </a:r>
            <a:r>
              <a:rPr lang="en-US" dirty="0" err="1" smtClean="0"/>
              <a:t>Avg</a:t>
            </a:r>
            <a:r>
              <a:rPr lang="en-US" dirty="0" smtClean="0"/>
              <a:t>(</a:t>
            </a:r>
            <a:r>
              <a:rPr lang="en-US" dirty="0" err="1" smtClean="0"/>
              <a:t>WSM.p</a:t>
            </a:r>
            <a:r>
              <a:rPr lang="en-US" dirty="0" smtClean="0"/>
              <a:t>)</a:t>
            </a:r>
            <a:endParaRPr lang="en-AU" dirty="0"/>
          </a:p>
        </p:txBody>
      </p:sp>
      <p:sp>
        <p:nvSpPr>
          <p:cNvPr id="55" name="Rectangle 54"/>
          <p:cNvSpPr/>
          <p:nvPr/>
        </p:nvSpPr>
        <p:spPr>
          <a:xfrm>
            <a:off x="1396212" y="2820321"/>
            <a:ext cx="3172105" cy="2090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Impersonation Test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AU" dirty="0"/>
          </a:p>
        </p:txBody>
      </p:sp>
      <p:sp>
        <p:nvSpPr>
          <p:cNvPr id="57" name="Rounded Rectangle 56"/>
          <p:cNvSpPr/>
          <p:nvPr/>
        </p:nvSpPr>
        <p:spPr>
          <a:xfrm>
            <a:off x="1537663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59" name="Rounded Rectangle 58"/>
          <p:cNvSpPr/>
          <p:nvPr/>
        </p:nvSpPr>
        <p:spPr>
          <a:xfrm>
            <a:off x="2992030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sp>
        <p:nvSpPr>
          <p:cNvPr id="65" name="Rounded Rectangle 64"/>
          <p:cNvSpPr/>
          <p:nvPr/>
        </p:nvSpPr>
        <p:spPr>
          <a:xfrm>
            <a:off x="3982942" y="1203941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66" name="Rounded Rectangle 65"/>
          <p:cNvSpPr/>
          <p:nvPr/>
        </p:nvSpPr>
        <p:spPr>
          <a:xfrm>
            <a:off x="1572867" y="1203941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67" name="Rounded Rectangle 66"/>
          <p:cNvSpPr/>
          <p:nvPr/>
        </p:nvSpPr>
        <p:spPr>
          <a:xfrm>
            <a:off x="1981086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sp>
        <p:nvSpPr>
          <p:cNvPr id="71" name="Rounded Rectangle 70"/>
          <p:cNvSpPr/>
          <p:nvPr/>
        </p:nvSpPr>
        <p:spPr>
          <a:xfrm>
            <a:off x="1668831" y="4258345"/>
            <a:ext cx="2659030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Matrix  M users &amp; N days</a:t>
            </a:r>
            <a:endParaRPr lang="en-AU" dirty="0"/>
          </a:p>
        </p:txBody>
      </p:sp>
      <p:sp>
        <p:nvSpPr>
          <p:cNvPr id="74" name="TextBox 73"/>
          <p:cNvSpPr txBox="1"/>
          <p:nvPr/>
        </p:nvSpPr>
        <p:spPr>
          <a:xfrm>
            <a:off x="604970" y="5540424"/>
            <a:ext cx="3896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STD(WS1)~=STD(WS2)~=…~=STD(WSM)</a:t>
            </a:r>
            <a:endParaRPr lang="en-AU" dirty="0"/>
          </a:p>
        </p:txBody>
      </p:sp>
      <p:sp>
        <p:nvSpPr>
          <p:cNvPr id="75" name="Rounded Rectangle 74"/>
          <p:cNvSpPr/>
          <p:nvPr/>
        </p:nvSpPr>
        <p:spPr>
          <a:xfrm>
            <a:off x="6094034" y="2682523"/>
            <a:ext cx="1317679" cy="5339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sp>
        <p:nvSpPr>
          <p:cNvPr id="77" name="Rounded Rectangle 76"/>
          <p:cNvSpPr/>
          <p:nvPr/>
        </p:nvSpPr>
        <p:spPr>
          <a:xfrm>
            <a:off x="1539825" y="3253987"/>
            <a:ext cx="2868813" cy="39737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9959715" y="945938"/>
            <a:ext cx="112323" cy="2038452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814558" y="1732960"/>
            <a:ext cx="871545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  <p:sp>
        <p:nvSpPr>
          <p:cNvPr id="82" name="Rounded Rectangle 81"/>
          <p:cNvSpPr/>
          <p:nvPr/>
        </p:nvSpPr>
        <p:spPr>
          <a:xfrm>
            <a:off x="3878485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6647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0669" y="285010"/>
            <a:ext cx="3322320" cy="6225540"/>
          </a:xfrm>
          <a:prstGeom prst="roundRect">
            <a:avLst>
              <a:gd name="adj" fmla="val 11621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865163" y="1374670"/>
            <a:ext cx="32144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10:10 am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10-Oct-2026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585542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17363603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ounded Rectangle 61"/>
          <p:cNvSpPr/>
          <p:nvPr/>
        </p:nvSpPr>
        <p:spPr>
          <a:xfrm>
            <a:off x="8366791" y="28501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/>
          <p:cNvSpPr/>
          <p:nvPr/>
        </p:nvSpPr>
        <p:spPr>
          <a:xfrm>
            <a:off x="21141664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097281" y="2609558"/>
            <a:ext cx="2757268" cy="56974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44" y="2651120"/>
            <a:ext cx="390580" cy="409632"/>
          </a:xfrm>
          <a:prstGeom prst="rect">
            <a:avLst/>
          </a:prstGeom>
        </p:spPr>
      </p:pic>
      <p:pic>
        <p:nvPicPr>
          <p:cNvPr id="6" name="Picture 4" descr="Free Microphone Icon, Symbol. Download in SVG &amp; PNG Formats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288" y="2740581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1188468" y="3799131"/>
            <a:ext cx="475556" cy="475556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1064381" y="4274687"/>
            <a:ext cx="723729" cy="27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endParaRPr lang="en-US" sz="1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r="56443"/>
          <a:stretch/>
        </p:blipFill>
        <p:spPr>
          <a:xfrm>
            <a:off x="4588730" y="285010"/>
            <a:ext cx="3322320" cy="6225540"/>
          </a:xfrm>
          <a:custGeom>
            <a:avLst/>
            <a:gdLst>
              <a:gd name="connsiteX0" fmla="*/ 386087 w 3322320"/>
              <a:gd name="connsiteY0" fmla="*/ 0 h 6225540"/>
              <a:gd name="connsiteX1" fmla="*/ 2936233 w 3322320"/>
              <a:gd name="connsiteY1" fmla="*/ 0 h 6225540"/>
              <a:gd name="connsiteX2" fmla="*/ 3322320 w 3322320"/>
              <a:gd name="connsiteY2" fmla="*/ 386087 h 6225540"/>
              <a:gd name="connsiteX3" fmla="*/ 3322320 w 3322320"/>
              <a:gd name="connsiteY3" fmla="*/ 5839453 h 6225540"/>
              <a:gd name="connsiteX4" fmla="*/ 2936233 w 3322320"/>
              <a:gd name="connsiteY4" fmla="*/ 6225540 h 6225540"/>
              <a:gd name="connsiteX5" fmla="*/ 386087 w 3322320"/>
              <a:gd name="connsiteY5" fmla="*/ 6225540 h 6225540"/>
              <a:gd name="connsiteX6" fmla="*/ 0 w 3322320"/>
              <a:gd name="connsiteY6" fmla="*/ 5839453 h 6225540"/>
              <a:gd name="connsiteX7" fmla="*/ 0 w 3322320"/>
              <a:gd name="connsiteY7" fmla="*/ 386087 h 6225540"/>
              <a:gd name="connsiteX8" fmla="*/ 386087 w 3322320"/>
              <a:gd name="connsiteY8" fmla="*/ 0 h 622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2320" h="6225540">
                <a:moveTo>
                  <a:pt x="386087" y="0"/>
                </a:moveTo>
                <a:lnTo>
                  <a:pt x="2936233" y="0"/>
                </a:lnTo>
                <a:cubicBezTo>
                  <a:pt x="3149463" y="0"/>
                  <a:pt x="3322320" y="172857"/>
                  <a:pt x="3322320" y="386087"/>
                </a:cubicBezTo>
                <a:lnTo>
                  <a:pt x="3322320" y="5839453"/>
                </a:lnTo>
                <a:cubicBezTo>
                  <a:pt x="3322320" y="6052683"/>
                  <a:pt x="3149463" y="6225540"/>
                  <a:pt x="2936233" y="6225540"/>
                </a:cubicBezTo>
                <a:lnTo>
                  <a:pt x="386087" y="6225540"/>
                </a:lnTo>
                <a:cubicBezTo>
                  <a:pt x="172857" y="6225540"/>
                  <a:pt x="0" y="6052683"/>
                  <a:pt x="0" y="5839453"/>
                </a:cubicBezTo>
                <a:lnTo>
                  <a:pt x="0" y="386087"/>
                </a:lnTo>
                <a:cubicBezTo>
                  <a:pt x="0" y="172857"/>
                  <a:pt x="172857" y="0"/>
                  <a:pt x="386087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</p:pic>
      <p:sp>
        <p:nvSpPr>
          <p:cNvPr id="77" name="Title 1"/>
          <p:cNvSpPr txBox="1">
            <a:spLocks/>
          </p:cNvSpPr>
          <p:nvPr/>
        </p:nvSpPr>
        <p:spPr>
          <a:xfrm>
            <a:off x="4588730" y="2507255"/>
            <a:ext cx="333106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RedDust</a:t>
            </a:r>
            <a: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endParaRPr lang="en-US" sz="32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05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music</a:t>
            </a: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 that listens to your soul</a:t>
            </a:r>
            <a:endParaRPr lang="en-US" sz="4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16925" y="1374670"/>
            <a:ext cx="2222051" cy="435882"/>
            <a:chOff x="8822532" y="1308120"/>
            <a:chExt cx="2222051" cy="435882"/>
          </a:xfrm>
        </p:grpSpPr>
        <p:sp>
          <p:nvSpPr>
            <p:cNvPr id="63" name="TextBox 62"/>
            <p:cNvSpPr txBox="1"/>
            <p:nvPr/>
          </p:nvSpPr>
          <p:spPr>
            <a:xfrm>
              <a:off x="8822532" y="1374670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smtClean="0"/>
                <a:t>Login with Google</a:t>
              </a:r>
              <a:endParaRPr lang="en-AU" u="sng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218" y="1308120"/>
              <a:ext cx="416365" cy="435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0820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/>
          <p:cNvSpPr/>
          <p:nvPr/>
        </p:nvSpPr>
        <p:spPr>
          <a:xfrm>
            <a:off x="1567257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2004112" y="5560541"/>
            <a:ext cx="2448610" cy="871501"/>
            <a:chOff x="828319" y="5520554"/>
            <a:chExt cx="2448610" cy="871501"/>
          </a:xfrm>
        </p:grpSpPr>
        <p:grpSp>
          <p:nvGrpSpPr>
            <p:cNvPr id="3" name="Group 2"/>
            <p:cNvGrpSpPr/>
            <p:nvPr/>
          </p:nvGrpSpPr>
          <p:grpSpPr>
            <a:xfrm>
              <a:off x="828319" y="5520554"/>
              <a:ext cx="972844" cy="871501"/>
              <a:chOff x="828319" y="5755307"/>
              <a:chExt cx="812082" cy="691699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53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1653541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1703697" y="1354842"/>
            <a:ext cx="336169" cy="331071"/>
            <a:chOff x="7265603" y="579082"/>
            <a:chExt cx="541402" cy="533193"/>
          </a:xfrm>
        </p:grpSpPr>
        <p:sp>
          <p:nvSpPr>
            <p:cNvPr id="57" name="Oval 56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5603" y="589162"/>
              <a:ext cx="523111" cy="523113"/>
            </a:xfrm>
            <a:prstGeom prst="rect">
              <a:avLst/>
            </a:prstGeom>
          </p:spPr>
        </p:pic>
      </p:grpSp>
      <p:pic>
        <p:nvPicPr>
          <p:cNvPr id="59" name="Picture 5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4463248" y="81617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60" name="Rounded Rectangular Callout 59"/>
          <p:cNvSpPr/>
          <p:nvPr/>
        </p:nvSpPr>
        <p:spPr>
          <a:xfrm rot="5400000">
            <a:off x="2374991" y="1118610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Rounded Rectangular Callout 60"/>
          <p:cNvSpPr/>
          <p:nvPr/>
        </p:nvSpPr>
        <p:spPr>
          <a:xfrm rot="5400000" flipV="1">
            <a:off x="3082729" y="-3343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ectangle 61"/>
          <p:cNvSpPr/>
          <p:nvPr/>
        </p:nvSpPr>
        <p:spPr>
          <a:xfrm>
            <a:off x="2195699" y="80521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96685" y="136677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4463248" y="171372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65" name="Rounded Rectangular Callout 64"/>
          <p:cNvSpPr/>
          <p:nvPr/>
        </p:nvSpPr>
        <p:spPr>
          <a:xfrm rot="5400000" flipV="1">
            <a:off x="3082729" y="86412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Rectangle 65"/>
          <p:cNvSpPr/>
          <p:nvPr/>
        </p:nvSpPr>
        <p:spPr>
          <a:xfrm>
            <a:off x="2195699" y="170276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New Question</a:t>
            </a:r>
            <a:endParaRPr lang="en-AU" sz="1200" dirty="0"/>
          </a:p>
        </p:txBody>
      </p:sp>
      <p:grpSp>
        <p:nvGrpSpPr>
          <p:cNvPr id="67" name="Group 66"/>
          <p:cNvGrpSpPr/>
          <p:nvPr/>
        </p:nvGrpSpPr>
        <p:grpSpPr>
          <a:xfrm>
            <a:off x="1710287" y="2226848"/>
            <a:ext cx="333093" cy="331071"/>
            <a:chOff x="7270557" y="579082"/>
            <a:chExt cx="536448" cy="533193"/>
          </a:xfrm>
        </p:grpSpPr>
        <p:sp>
          <p:nvSpPr>
            <p:cNvPr id="68" name="Oval 67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7875" y="589162"/>
              <a:ext cx="523111" cy="523113"/>
            </a:xfrm>
            <a:prstGeom prst="rect">
              <a:avLst/>
            </a:prstGeom>
          </p:spPr>
        </p:pic>
      </p:grpSp>
      <p:sp>
        <p:nvSpPr>
          <p:cNvPr id="70" name="Rounded Rectangular Callout 69"/>
          <p:cNvSpPr/>
          <p:nvPr/>
        </p:nvSpPr>
        <p:spPr>
          <a:xfrm rot="5400000">
            <a:off x="2378504" y="1990616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 70"/>
          <p:cNvSpPr/>
          <p:nvPr/>
        </p:nvSpPr>
        <p:spPr>
          <a:xfrm>
            <a:off x="2079085" y="2233289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Answer</a:t>
            </a:r>
            <a:endParaRPr lang="en-AU" sz="12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768244" y="791046"/>
            <a:ext cx="0" cy="1592114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768244" y="2044539"/>
            <a:ext cx="0" cy="3102580"/>
          </a:xfrm>
          <a:prstGeom prst="line">
            <a:avLst/>
          </a:prstGeom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7157126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74" name="Group 73"/>
          <p:cNvGrpSpPr/>
          <p:nvPr/>
        </p:nvGrpSpPr>
        <p:grpSpPr>
          <a:xfrm>
            <a:off x="7593981" y="5560541"/>
            <a:ext cx="2448610" cy="871501"/>
            <a:chOff x="828319" y="5520554"/>
            <a:chExt cx="2448610" cy="871501"/>
          </a:xfrm>
        </p:grpSpPr>
        <p:grpSp>
          <p:nvGrpSpPr>
            <p:cNvPr id="75" name="Group 74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</a:p>
            </p:txBody>
          </p:sp>
          <p:pic>
            <p:nvPicPr>
              <p:cNvPr id="80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6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243410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82" name="Group 81"/>
          <p:cNvGrpSpPr/>
          <p:nvPr/>
        </p:nvGrpSpPr>
        <p:grpSpPr>
          <a:xfrm>
            <a:off x="7293566" y="1354842"/>
            <a:ext cx="336169" cy="331071"/>
            <a:chOff x="7265603" y="579082"/>
            <a:chExt cx="541402" cy="533193"/>
          </a:xfrm>
        </p:grpSpPr>
        <p:sp>
          <p:nvSpPr>
            <p:cNvPr id="83" name="Oval 82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84" name="Picture 83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5603" y="589162"/>
              <a:ext cx="523111" cy="523113"/>
            </a:xfrm>
            <a:prstGeom prst="rect">
              <a:avLst/>
            </a:prstGeom>
          </p:spPr>
        </p:pic>
      </p:grpSp>
      <p:pic>
        <p:nvPicPr>
          <p:cNvPr id="85" name="Picture 8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0053117" y="81617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86" name="Rounded Rectangular Callout 85"/>
          <p:cNvSpPr/>
          <p:nvPr/>
        </p:nvSpPr>
        <p:spPr>
          <a:xfrm rot="5400000">
            <a:off x="7964860" y="1118610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7" name="Rounded Rectangular Callout 86"/>
          <p:cNvSpPr/>
          <p:nvPr/>
        </p:nvSpPr>
        <p:spPr>
          <a:xfrm rot="5400000" flipV="1">
            <a:off x="8672598" y="-3343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8" name="Rectangle 87"/>
          <p:cNvSpPr/>
          <p:nvPr/>
        </p:nvSpPr>
        <p:spPr>
          <a:xfrm>
            <a:off x="7785568" y="80521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686554" y="136677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10053117" y="171372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91" name="Rounded Rectangular Callout 90"/>
          <p:cNvSpPr/>
          <p:nvPr/>
        </p:nvSpPr>
        <p:spPr>
          <a:xfrm rot="5400000" flipV="1">
            <a:off x="8672598" y="86412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2" name="Rectangle 91"/>
          <p:cNvSpPr/>
          <p:nvPr/>
        </p:nvSpPr>
        <p:spPr>
          <a:xfrm>
            <a:off x="7785568" y="170276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New Question</a:t>
            </a:r>
            <a:endParaRPr lang="en-AU" sz="1200" dirty="0"/>
          </a:p>
        </p:txBody>
      </p:sp>
      <p:grpSp>
        <p:nvGrpSpPr>
          <p:cNvPr id="93" name="Group 92"/>
          <p:cNvGrpSpPr/>
          <p:nvPr/>
        </p:nvGrpSpPr>
        <p:grpSpPr>
          <a:xfrm>
            <a:off x="7300156" y="2226848"/>
            <a:ext cx="333093" cy="331071"/>
            <a:chOff x="7270557" y="579082"/>
            <a:chExt cx="536448" cy="533193"/>
          </a:xfrm>
        </p:grpSpPr>
        <p:sp>
          <p:nvSpPr>
            <p:cNvPr id="94" name="Oval 93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95" name="Picture 94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7875" y="589162"/>
              <a:ext cx="523111" cy="523113"/>
            </a:xfrm>
            <a:prstGeom prst="rect">
              <a:avLst/>
            </a:prstGeom>
          </p:spPr>
        </p:pic>
      </p:grpSp>
      <p:sp>
        <p:nvSpPr>
          <p:cNvPr id="96" name="Rounded Rectangular Callout 95"/>
          <p:cNvSpPr/>
          <p:nvPr/>
        </p:nvSpPr>
        <p:spPr>
          <a:xfrm rot="5400000">
            <a:off x="7968373" y="1990616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7" name="Rectangle 96"/>
          <p:cNvSpPr/>
          <p:nvPr/>
        </p:nvSpPr>
        <p:spPr>
          <a:xfrm>
            <a:off x="7668954" y="2233289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Answer</a:t>
            </a:r>
            <a:endParaRPr lang="en-AU" sz="1200" dirty="0"/>
          </a:p>
        </p:txBody>
      </p:sp>
      <p:cxnSp>
        <p:nvCxnSpPr>
          <p:cNvPr id="98" name="Straight Connector 97"/>
          <p:cNvCxnSpPr/>
          <p:nvPr/>
        </p:nvCxnSpPr>
        <p:spPr>
          <a:xfrm>
            <a:off x="10358113" y="791046"/>
            <a:ext cx="0" cy="1592114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10358113" y="2044539"/>
            <a:ext cx="0" cy="3102580"/>
          </a:xfrm>
          <a:prstGeom prst="line">
            <a:avLst/>
          </a:prstGeom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365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5901917" y="49530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8298827" y="6047733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ounded Rectangle 1"/>
          <p:cNvSpPr/>
          <p:nvPr/>
        </p:nvSpPr>
        <p:spPr>
          <a:xfrm>
            <a:off x="1226820" y="44196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1682561" y="153162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Login with Google</a:t>
            </a:r>
            <a:endParaRPr lang="en-AU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39" y="1511470"/>
            <a:ext cx="390580" cy="409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02217" y="634746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644" y="609338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394" y="609338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6342669" y="634746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101423" y="1201658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Full Name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101423" y="1621053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DoB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6101423" y="2048068"/>
            <a:ext cx="2923309" cy="5340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Languages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 Priority first. Type in others.</a:t>
            </a:r>
            <a:endParaRPr lang="en-AU" sz="1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093803" y="3611767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Genres &amp; Decades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High Priority first. Type in others.</a:t>
            </a:r>
            <a:endParaRPr lang="en-AU" sz="14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9144042" y="504365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Gender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144042" y="879276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136421" y="1251716"/>
            <a:ext cx="1295051" cy="3616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 Time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6093803" y="2602120"/>
            <a:ext cx="2978034" cy="918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117815" y="2636993"/>
            <a:ext cx="112776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Mandarin</a:t>
            </a:r>
            <a:endParaRPr lang="en-AU" dirty="0"/>
          </a:p>
        </p:txBody>
      </p:sp>
      <p:sp>
        <p:nvSpPr>
          <p:cNvPr id="90" name="Rounded Rectangle 89"/>
          <p:cNvSpPr/>
          <p:nvPr/>
        </p:nvSpPr>
        <p:spPr>
          <a:xfrm>
            <a:off x="6126707" y="2924427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Spanish</a:t>
            </a:r>
            <a:endParaRPr lang="en-AU" dirty="0"/>
          </a:p>
        </p:txBody>
      </p:sp>
      <p:sp>
        <p:nvSpPr>
          <p:cNvPr id="91" name="Rounded Rectangle 90"/>
          <p:cNvSpPr/>
          <p:nvPr/>
        </p:nvSpPr>
        <p:spPr>
          <a:xfrm>
            <a:off x="8312391" y="2634655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Hindi</a:t>
            </a:r>
            <a:endParaRPr lang="en-AU" dirty="0"/>
          </a:p>
        </p:txBody>
      </p:sp>
      <p:sp>
        <p:nvSpPr>
          <p:cNvPr id="92" name="Rounded Rectangle 91"/>
          <p:cNvSpPr/>
          <p:nvPr/>
        </p:nvSpPr>
        <p:spPr>
          <a:xfrm>
            <a:off x="6127363" y="2634655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English</a:t>
            </a:r>
            <a:endParaRPr lang="en-AU" dirty="0"/>
          </a:p>
        </p:txBody>
      </p:sp>
      <p:sp>
        <p:nvSpPr>
          <p:cNvPr id="93" name="Rounded Rectangle 92"/>
          <p:cNvSpPr/>
          <p:nvPr/>
        </p:nvSpPr>
        <p:spPr>
          <a:xfrm>
            <a:off x="7124423" y="2916732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Arabic</a:t>
            </a:r>
            <a:endParaRPr lang="en-AU" dirty="0"/>
          </a:p>
        </p:txBody>
      </p:sp>
      <p:sp>
        <p:nvSpPr>
          <p:cNvPr id="94" name="Rounded Rectangle 93"/>
          <p:cNvSpPr/>
          <p:nvPr/>
        </p:nvSpPr>
        <p:spPr>
          <a:xfrm>
            <a:off x="8092699" y="291890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French</a:t>
            </a:r>
            <a:endParaRPr lang="en-AU" dirty="0"/>
          </a:p>
        </p:txBody>
      </p:sp>
      <p:sp>
        <p:nvSpPr>
          <p:cNvPr id="95" name="Rounded Rectangle 94"/>
          <p:cNvSpPr/>
          <p:nvPr/>
        </p:nvSpPr>
        <p:spPr>
          <a:xfrm>
            <a:off x="6143784" y="322171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Bengali</a:t>
            </a:r>
            <a:endParaRPr lang="en-AU" dirty="0"/>
          </a:p>
        </p:txBody>
      </p:sp>
      <p:sp>
        <p:nvSpPr>
          <p:cNvPr id="96" name="Rounded Rectangle 95"/>
          <p:cNvSpPr/>
          <p:nvPr/>
        </p:nvSpPr>
        <p:spPr>
          <a:xfrm>
            <a:off x="7130136" y="32217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Portuguese</a:t>
            </a:r>
            <a:endParaRPr lang="en-AU" dirty="0"/>
          </a:p>
        </p:txBody>
      </p:sp>
      <p:sp>
        <p:nvSpPr>
          <p:cNvPr id="97" name="Rounded Rectangle 96"/>
          <p:cNvSpPr/>
          <p:nvPr/>
        </p:nvSpPr>
        <p:spPr>
          <a:xfrm>
            <a:off x="6101423" y="4156186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767690" y="4191059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Rock</a:t>
            </a:r>
            <a:endParaRPr lang="en-AU" dirty="0"/>
          </a:p>
        </p:txBody>
      </p:sp>
      <p:sp>
        <p:nvSpPr>
          <p:cNvPr id="99" name="Rounded Rectangle 98"/>
          <p:cNvSpPr/>
          <p:nvPr/>
        </p:nvSpPr>
        <p:spPr>
          <a:xfrm>
            <a:off x="6134327" y="4478493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Electro</a:t>
            </a:r>
            <a:endParaRPr lang="en-AU" dirty="0"/>
          </a:p>
        </p:txBody>
      </p:sp>
      <p:sp>
        <p:nvSpPr>
          <p:cNvPr id="100" name="Rounded Rectangle 99"/>
          <p:cNvSpPr/>
          <p:nvPr/>
        </p:nvSpPr>
        <p:spPr>
          <a:xfrm>
            <a:off x="7515752" y="4188721"/>
            <a:ext cx="150104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Rap/ Hip Hop</a:t>
            </a:r>
            <a:endParaRPr lang="en-AU" dirty="0"/>
          </a:p>
        </p:txBody>
      </p:sp>
      <p:sp>
        <p:nvSpPr>
          <p:cNvPr id="101" name="Rounded Rectangle 100"/>
          <p:cNvSpPr/>
          <p:nvPr/>
        </p:nvSpPr>
        <p:spPr>
          <a:xfrm>
            <a:off x="6144000" y="4188721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</a:t>
            </a:r>
            <a:endParaRPr lang="en-AU" dirty="0"/>
          </a:p>
        </p:txBody>
      </p:sp>
      <p:sp>
        <p:nvSpPr>
          <p:cNvPr id="102" name="Rounded Rectangle 101"/>
          <p:cNvSpPr/>
          <p:nvPr/>
        </p:nvSpPr>
        <p:spPr>
          <a:xfrm>
            <a:off x="7103154" y="4470798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Latin</a:t>
            </a:r>
            <a:endParaRPr lang="en-AU" dirty="0"/>
          </a:p>
        </p:txBody>
      </p:sp>
      <p:sp>
        <p:nvSpPr>
          <p:cNvPr id="103" name="Rounded Rectangle 102"/>
          <p:cNvSpPr/>
          <p:nvPr/>
        </p:nvSpPr>
        <p:spPr>
          <a:xfrm>
            <a:off x="7835016" y="4472966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80s</a:t>
            </a:r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940" y="612170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7224130" y="638442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1" name="Rounded Rectangle 120"/>
          <p:cNvSpPr/>
          <p:nvPr/>
        </p:nvSpPr>
        <p:spPr>
          <a:xfrm>
            <a:off x="6093803" y="4840064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Favorite Artists/ Bands</a:t>
            </a:r>
          </a:p>
          <a:p>
            <a:r>
              <a:rPr lang="en-US" sz="1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Most favorites first. Type in others.</a:t>
            </a:r>
            <a:endParaRPr lang="en-AU" sz="2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6101423" y="5384483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8028136" y="5415590"/>
            <a:ext cx="1025236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Kenny G</a:t>
            </a:r>
            <a:endParaRPr lang="en-AU" dirty="0"/>
          </a:p>
        </p:txBody>
      </p:sp>
      <p:sp>
        <p:nvSpPr>
          <p:cNvPr id="125" name="Rounded Rectangle 124"/>
          <p:cNvSpPr/>
          <p:nvPr/>
        </p:nvSpPr>
        <p:spPr>
          <a:xfrm>
            <a:off x="7520829" y="5417018"/>
            <a:ext cx="47828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MJ</a:t>
            </a:r>
            <a:endParaRPr lang="en-AU" dirty="0"/>
          </a:p>
        </p:txBody>
      </p:sp>
      <p:sp>
        <p:nvSpPr>
          <p:cNvPr id="126" name="Rounded Rectangle 125"/>
          <p:cNvSpPr/>
          <p:nvPr/>
        </p:nvSpPr>
        <p:spPr>
          <a:xfrm>
            <a:off x="6132360" y="54073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Bob Marley</a:t>
            </a:r>
            <a:endParaRPr lang="en-AU" dirty="0"/>
          </a:p>
        </p:txBody>
      </p:sp>
      <p:sp>
        <p:nvSpPr>
          <p:cNvPr id="127" name="Rounded Rectangle 126"/>
          <p:cNvSpPr/>
          <p:nvPr/>
        </p:nvSpPr>
        <p:spPr>
          <a:xfrm>
            <a:off x="6131971" y="5699095"/>
            <a:ext cx="1240536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Black Pink</a:t>
            </a:r>
            <a:endParaRPr lang="en-AU" dirty="0"/>
          </a:p>
        </p:txBody>
      </p:sp>
      <p:sp>
        <p:nvSpPr>
          <p:cNvPr id="128" name="Rounded Rectangle 127"/>
          <p:cNvSpPr/>
          <p:nvPr/>
        </p:nvSpPr>
        <p:spPr>
          <a:xfrm>
            <a:off x="7397858" y="5701263"/>
            <a:ext cx="1651154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Kishore Kumar</a:t>
            </a:r>
            <a:endParaRPr lang="en-AU" dirty="0"/>
          </a:p>
        </p:txBody>
      </p:sp>
      <p:sp>
        <p:nvSpPr>
          <p:cNvPr id="129" name="Rounded Rectangle 128"/>
          <p:cNvSpPr/>
          <p:nvPr/>
        </p:nvSpPr>
        <p:spPr>
          <a:xfrm>
            <a:off x="8448942" y="4472966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90s</a:t>
            </a:r>
            <a:endParaRPr lang="en-AU" dirty="0"/>
          </a:p>
        </p:txBody>
      </p:sp>
      <p:grpSp>
        <p:nvGrpSpPr>
          <p:cNvPr id="36" name="Group 35"/>
          <p:cNvGrpSpPr/>
          <p:nvPr/>
        </p:nvGrpSpPr>
        <p:grpSpPr>
          <a:xfrm>
            <a:off x="7263992" y="538463"/>
            <a:ext cx="575423" cy="575423"/>
            <a:chOff x="7263992" y="538463"/>
            <a:chExt cx="575423" cy="575423"/>
          </a:xfrm>
        </p:grpSpPr>
        <p:sp>
          <p:nvSpPr>
            <p:cNvPr id="73" name="Oval 72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130" name="Rounded Rectangle 129"/>
          <p:cNvSpPr/>
          <p:nvPr/>
        </p:nvSpPr>
        <p:spPr>
          <a:xfrm>
            <a:off x="9136420" y="1654636"/>
            <a:ext cx="1440594" cy="3749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Current Date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890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ounded Rectangle 105"/>
          <p:cNvSpPr/>
          <p:nvPr/>
        </p:nvSpPr>
        <p:spPr>
          <a:xfrm>
            <a:off x="7034664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Oval 112"/>
          <p:cNvSpPr/>
          <p:nvPr/>
        </p:nvSpPr>
        <p:spPr>
          <a:xfrm>
            <a:off x="7494690" y="591171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/>
          <p:cNvSpPr txBox="1"/>
          <p:nvPr/>
        </p:nvSpPr>
        <p:spPr>
          <a:xfrm>
            <a:off x="9471660" y="6211438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15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087" y="5957363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37" y="595736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7512112" y="621143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118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383" y="5985680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TextBox 118"/>
          <p:cNvSpPr txBox="1"/>
          <p:nvPr/>
        </p:nvSpPr>
        <p:spPr>
          <a:xfrm>
            <a:off x="8393573" y="6248400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0" name="Rounded Rectangle 119"/>
          <p:cNvSpPr/>
          <p:nvPr/>
        </p:nvSpPr>
        <p:spPr>
          <a:xfrm>
            <a:off x="7234169" y="786451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7244754" y="1350612"/>
            <a:ext cx="357293" cy="357293"/>
            <a:chOff x="7263992" y="538463"/>
            <a:chExt cx="575423" cy="575423"/>
          </a:xfrm>
        </p:grpSpPr>
        <p:sp>
          <p:nvSpPr>
            <p:cNvPr id="34" name="Oval 33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6" name="Rounded Rectangle 35"/>
          <p:cNvSpPr/>
          <p:nvPr/>
        </p:nvSpPr>
        <p:spPr>
          <a:xfrm>
            <a:off x="7249409" y="5438965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813376" y="5459290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9" name="Picture 2" descr="Send Icon in SVG, PNG form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787" y="5520554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ounded Rectangle 18"/>
          <p:cNvSpPr/>
          <p:nvPr/>
        </p:nvSpPr>
        <p:spPr>
          <a:xfrm>
            <a:off x="492837" y="29985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952863" y="5815330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/>
          <p:cNvSpPr txBox="1"/>
          <p:nvPr/>
        </p:nvSpPr>
        <p:spPr>
          <a:xfrm>
            <a:off x="2929833" y="6115057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22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260" y="5860982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010" y="5860982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970285" y="6115057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25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56" y="5889299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1851746" y="6152019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692342" y="703718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271549" y="783952"/>
            <a:ext cx="295284" cy="295284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grpSp>
        <p:nvGrpSpPr>
          <p:cNvPr id="29" name="Group 28"/>
          <p:cNvGrpSpPr/>
          <p:nvPr/>
        </p:nvGrpSpPr>
        <p:grpSpPr>
          <a:xfrm>
            <a:off x="754123" y="1168951"/>
            <a:ext cx="432324" cy="432324"/>
            <a:chOff x="7263992" y="538463"/>
            <a:chExt cx="575423" cy="575423"/>
          </a:xfrm>
        </p:grpSpPr>
        <p:sp>
          <p:nvSpPr>
            <p:cNvPr id="30" name="Oval 29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7" name="Rounded Rectangle 36"/>
          <p:cNvSpPr/>
          <p:nvPr/>
        </p:nvSpPr>
        <p:spPr>
          <a:xfrm>
            <a:off x="707582" y="5342584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271549" y="5362909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41" name="Picture 2" descr="Send Icon in SVG, PNG form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960" y="5424173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9893592" y="892309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43" name="Rounded Rectangular Callout 42"/>
          <p:cNvSpPr/>
          <p:nvPr/>
        </p:nvSpPr>
        <p:spPr>
          <a:xfrm rot="5400000">
            <a:off x="7917053" y="1139601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ounded Rectangular Callout 41"/>
          <p:cNvSpPr/>
          <p:nvPr/>
        </p:nvSpPr>
        <p:spPr>
          <a:xfrm rot="5400000" flipV="1">
            <a:off x="8513073" y="4270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7626043" y="88134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17634" y="1382274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9868569" y="1788513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46" name="Rounded Rectangular Callout 45"/>
          <p:cNvSpPr/>
          <p:nvPr/>
        </p:nvSpPr>
        <p:spPr>
          <a:xfrm rot="5400000" flipV="1">
            <a:off x="8488050" y="938904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Rectangle 46"/>
          <p:cNvSpPr/>
          <p:nvPr/>
        </p:nvSpPr>
        <p:spPr>
          <a:xfrm>
            <a:off x="7601020" y="1777544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New Question</a:t>
            </a:r>
            <a:endParaRPr lang="en-AU" sz="1200" dirty="0"/>
          </a:p>
        </p:txBody>
      </p:sp>
      <p:grpSp>
        <p:nvGrpSpPr>
          <p:cNvPr id="48" name="Group 47"/>
          <p:cNvGrpSpPr/>
          <p:nvPr/>
        </p:nvGrpSpPr>
        <p:grpSpPr>
          <a:xfrm>
            <a:off x="7308442" y="2308231"/>
            <a:ext cx="357293" cy="357293"/>
            <a:chOff x="7263992" y="538463"/>
            <a:chExt cx="575423" cy="575423"/>
          </a:xfrm>
        </p:grpSpPr>
        <p:sp>
          <p:nvSpPr>
            <p:cNvPr id="49" name="Oval 48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51" name="Rounded Rectangular Callout 50"/>
          <p:cNvSpPr/>
          <p:nvPr/>
        </p:nvSpPr>
        <p:spPr>
          <a:xfrm rot="5400000">
            <a:off x="7980741" y="2097220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2" name="Rectangle 51"/>
          <p:cNvSpPr/>
          <p:nvPr/>
        </p:nvSpPr>
        <p:spPr>
          <a:xfrm>
            <a:off x="7681322" y="2339893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Answer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2114966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1386840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2799557" y="5940117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3787140" y="624840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567" y="599432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317" y="599432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1827592" y="624840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863" y="602264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2709053" y="628536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13" name="Oval 112"/>
          <p:cNvSpPr/>
          <p:nvPr/>
        </p:nvSpPr>
        <p:spPr>
          <a:xfrm>
            <a:off x="7494690" y="591171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37" y="595736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7512112" y="621143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11" y="770845"/>
            <a:ext cx="2984378" cy="46241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555811" y="5440375"/>
            <a:ext cx="2984378" cy="44257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 Your Wellbeing Trend</a:t>
            </a:r>
            <a:endParaRPr lang="en-AU" dirty="0"/>
          </a:p>
        </p:txBody>
      </p:sp>
      <p:sp>
        <p:nvSpPr>
          <p:cNvPr id="58" name="Rounded Rectangle 57"/>
          <p:cNvSpPr/>
          <p:nvPr/>
        </p:nvSpPr>
        <p:spPr>
          <a:xfrm>
            <a:off x="5401235" y="39624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9" name="Oval 58"/>
          <p:cNvSpPr/>
          <p:nvPr/>
        </p:nvSpPr>
        <p:spPr>
          <a:xfrm>
            <a:off x="6813952" y="5940117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TextBox 59"/>
          <p:cNvSpPr txBox="1"/>
          <p:nvPr/>
        </p:nvSpPr>
        <p:spPr>
          <a:xfrm>
            <a:off x="7801535" y="624840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61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62" y="599432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12" y="599432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Box 62"/>
          <p:cNvSpPr txBox="1"/>
          <p:nvPr/>
        </p:nvSpPr>
        <p:spPr>
          <a:xfrm>
            <a:off x="5841987" y="624840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64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258" y="602264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TextBox 64"/>
          <p:cNvSpPr txBox="1"/>
          <p:nvPr/>
        </p:nvSpPr>
        <p:spPr>
          <a:xfrm>
            <a:off x="6723448" y="628536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567139" y="609600"/>
            <a:ext cx="25763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00" y="782390"/>
            <a:ext cx="3104420" cy="51525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0292" y="782497"/>
            <a:ext cx="1062855" cy="29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49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97188" y="81887"/>
            <a:ext cx="3882788" cy="6496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6" name="Rounded Rectangle 105"/>
          <p:cNvSpPr/>
          <p:nvPr/>
        </p:nvSpPr>
        <p:spPr>
          <a:xfrm>
            <a:off x="497386" y="246114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Oval 112"/>
          <p:cNvSpPr/>
          <p:nvPr/>
        </p:nvSpPr>
        <p:spPr>
          <a:xfrm>
            <a:off x="957412" y="5761585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/>
          <p:cNvSpPr txBox="1"/>
          <p:nvPr/>
        </p:nvSpPr>
        <p:spPr>
          <a:xfrm>
            <a:off x="2934382" y="6061312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15" name="Picture 4" descr="User - Free social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809" y="5807237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559" y="5807237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974834" y="6061312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118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105" y="5835554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TextBox 118"/>
          <p:cNvSpPr txBox="1"/>
          <p:nvPr/>
        </p:nvSpPr>
        <p:spPr>
          <a:xfrm>
            <a:off x="1856295" y="6098274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20" name="Rounded Rectangle 119"/>
          <p:cNvSpPr/>
          <p:nvPr/>
        </p:nvSpPr>
        <p:spPr>
          <a:xfrm>
            <a:off x="696891" y="636325"/>
            <a:ext cx="2923309" cy="4542485"/>
          </a:xfrm>
          <a:prstGeom prst="roundRect">
            <a:avLst>
              <a:gd name="adj" fmla="val 4155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678098" y="1137045"/>
            <a:ext cx="357293" cy="357293"/>
            <a:chOff x="7263992" y="538463"/>
            <a:chExt cx="575423" cy="575423"/>
          </a:xfrm>
        </p:grpSpPr>
        <p:sp>
          <p:nvSpPr>
            <p:cNvPr id="34" name="Oval 33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sp>
        <p:nvSpPr>
          <p:cNvPr id="36" name="Rounded Rectangle 35"/>
          <p:cNvSpPr/>
          <p:nvPr/>
        </p:nvSpPr>
        <p:spPr>
          <a:xfrm>
            <a:off x="712131" y="5288839"/>
            <a:ext cx="2923309" cy="352834"/>
          </a:xfrm>
          <a:prstGeom prst="roundRect">
            <a:avLst>
              <a:gd name="adj" fmla="val 322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76098" y="5295516"/>
            <a:ext cx="366618" cy="332509"/>
          </a:xfrm>
          <a:prstGeom prst="roundRect">
            <a:avLst>
              <a:gd name="adj" fmla="val 36250"/>
            </a:avLst>
          </a:prstGeom>
          <a:solidFill>
            <a:schemeClr val="accent2">
              <a:lumMod val="75000"/>
            </a:schemeClr>
          </a:solid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9" name="Picture 2" descr="Send Icon in SVG, PNG format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509" y="5356780"/>
            <a:ext cx="209979" cy="20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356314" y="742183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43" name="Rounded Rectangular Callout 42"/>
          <p:cNvSpPr/>
          <p:nvPr/>
        </p:nvSpPr>
        <p:spPr>
          <a:xfrm rot="5400000">
            <a:off x="1379775" y="989475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ounded Rectangular Callout 41"/>
          <p:cNvSpPr/>
          <p:nvPr/>
        </p:nvSpPr>
        <p:spPr>
          <a:xfrm rot="5400000" flipV="1">
            <a:off x="1975795" y="-107426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088765" y="731214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0356" y="1232148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5561463" y="423081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{Empty}</a:t>
            </a:r>
            <a:endParaRPr lang="en-AU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9437426" y="4865581"/>
            <a:ext cx="2326944" cy="150969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8" name="Picture 4" descr="Llm Vector Images &amp; Graphics for Commercial Use | VectorSto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0185" y="607747"/>
            <a:ext cx="2494185" cy="13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 flipH="1">
            <a:off x="3127181" y="959791"/>
            <a:ext cx="2489725" cy="11239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958454" y="1192879"/>
            <a:ext cx="3746310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704764" y="1017716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{Updated 1}</a:t>
            </a:r>
            <a:endParaRPr lang="en-AU" dirty="0"/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7506975" y="1208021"/>
            <a:ext cx="2114695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7417558" y="1353863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704764" y="1437239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{Updated 2}</a:t>
            </a:r>
            <a:endParaRPr lang="en-AU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3378722" y="1677327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396160" y="1619435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55" name="Rounded Rectangular Callout 54"/>
          <p:cNvSpPr/>
          <p:nvPr/>
        </p:nvSpPr>
        <p:spPr>
          <a:xfrm rot="5400000" flipV="1">
            <a:off x="2015641" y="769826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Rectangle 55"/>
          <p:cNvSpPr/>
          <p:nvPr/>
        </p:nvSpPr>
        <p:spPr>
          <a:xfrm>
            <a:off x="1128611" y="1608466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648332" y="2553891"/>
            <a:ext cx="357293" cy="357293"/>
            <a:chOff x="7263992" y="538463"/>
            <a:chExt cx="575423" cy="575423"/>
          </a:xfrm>
        </p:grpSpPr>
        <p:sp>
          <p:nvSpPr>
            <p:cNvPr id="58" name="Oval 57"/>
            <p:cNvSpPr/>
            <p:nvPr/>
          </p:nvSpPr>
          <p:spPr>
            <a:xfrm>
              <a:off x="7270557" y="579082"/>
              <a:ext cx="536448" cy="519684"/>
            </a:xfrm>
            <a:prstGeom prst="ellipse">
              <a:avLst/>
            </a:prstGeom>
            <a:solidFill>
              <a:srgbClr val="FF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3992" y="538463"/>
              <a:ext cx="575423" cy="575423"/>
            </a:xfrm>
            <a:prstGeom prst="rect">
              <a:avLst/>
            </a:prstGeom>
          </p:spPr>
        </p:pic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297170" y="2095588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61" name="Rectangle 60"/>
          <p:cNvSpPr/>
          <p:nvPr/>
        </p:nvSpPr>
        <p:spPr>
          <a:xfrm>
            <a:off x="1021212" y="2585553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5502319" y="1776486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{Empty}</a:t>
            </a:r>
            <a:endParaRPr lang="en-AU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3289365" y="1961152"/>
            <a:ext cx="2158363" cy="47725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1899310" y="2546284"/>
            <a:ext cx="3746310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45620" y="2371121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{Updated 1}</a:t>
            </a:r>
            <a:endParaRPr lang="en-AU" dirty="0"/>
          </a:p>
        </p:txBody>
      </p:sp>
      <p:cxnSp>
        <p:nvCxnSpPr>
          <p:cNvPr id="66" name="Straight Arrow Connector 65"/>
          <p:cNvCxnSpPr/>
          <p:nvPr/>
        </p:nvCxnSpPr>
        <p:spPr>
          <a:xfrm flipV="1">
            <a:off x="7413713" y="2438402"/>
            <a:ext cx="2114695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H="1">
            <a:off x="7358414" y="2707268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45620" y="2790644"/>
            <a:ext cx="233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Json</a:t>
            </a:r>
            <a:r>
              <a:rPr lang="en-US" dirty="0" smtClean="0"/>
              <a:t> {Updated 2}</a:t>
            </a:r>
            <a:endParaRPr lang="en-AU" dirty="0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3319578" y="3030732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6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3337016" y="2972840"/>
            <a:ext cx="244036" cy="244036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71" name="Rectangle 70"/>
          <p:cNvSpPr/>
          <p:nvPr/>
        </p:nvSpPr>
        <p:spPr>
          <a:xfrm>
            <a:off x="1069467" y="2961871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pic>
        <p:nvPicPr>
          <p:cNvPr id="72" name="Picture 4" descr="Llm Vector Images &amp; Graphics for Commercial Use | VectorStoc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552" y="1938643"/>
            <a:ext cx="2494185" cy="137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/>
          <p:cNvSpPr/>
          <p:nvPr/>
        </p:nvSpPr>
        <p:spPr>
          <a:xfrm>
            <a:off x="10933410" y="824121"/>
            <a:ext cx="1233669" cy="816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RAG</a:t>
            </a:r>
            <a:endParaRPr lang="en-AU" dirty="0"/>
          </a:p>
        </p:txBody>
      </p:sp>
      <p:cxnSp>
        <p:nvCxnSpPr>
          <p:cNvPr id="74" name="Straight Arrow Connector 73"/>
          <p:cNvCxnSpPr>
            <a:stCxn id="2" idx="1"/>
          </p:cNvCxnSpPr>
          <p:nvPr/>
        </p:nvCxnSpPr>
        <p:spPr>
          <a:xfrm>
            <a:off x="5561463" y="607747"/>
            <a:ext cx="4418992" cy="452184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5561463" y="737654"/>
            <a:ext cx="4305257" cy="439193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7506976" y="5811020"/>
            <a:ext cx="2114695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7451677" y="6079886"/>
            <a:ext cx="2246724" cy="25848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V="1">
            <a:off x="1879136" y="452055"/>
            <a:ext cx="3746310" cy="11730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47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837</Words>
  <Application>Microsoft Office PowerPoint</Application>
  <PresentationFormat>Widescreen</PresentationFormat>
  <Paragraphs>297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35</cp:revision>
  <dcterms:created xsi:type="dcterms:W3CDTF">2026-06-01T00:31:16Z</dcterms:created>
  <dcterms:modified xsi:type="dcterms:W3CDTF">2026-07-23T05:38:22Z</dcterms:modified>
</cp:coreProperties>
</file>