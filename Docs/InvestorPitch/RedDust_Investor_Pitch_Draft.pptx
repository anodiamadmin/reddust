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573" y="5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6482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36627" y="762001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  <a:ea typeface="+mj-ea"/>
                <a:cs typeface="+mj-cs"/>
              </a:rPr>
              <a:t>RedDust</a:t>
            </a:r>
          </a:p>
          <a:p>
            <a:r>
              <a:rPr lang="en-US" sz="1400" dirty="0">
                <a:solidFill>
                  <a:srgbClr val="FFFFEB"/>
                </a:solidFill>
                <a:latin typeface="Candara" panose="020E0502030303020204" pitchFamily="34" charset="0"/>
              </a:rPr>
              <a:t>Listen to the radio that listens to your </a:t>
            </a: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soul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55513" y="1559126"/>
            <a:ext cx="46097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8E9DD"/>
                </a:solidFill>
                <a:latin typeface="Candara" panose="020E0502030303020204" pitchFamily="34" charset="0"/>
                <a:ea typeface="Aptos" pitchFamily="34" charset="-122"/>
                <a:cs typeface="Aptos" pitchFamily="34" charset="-120"/>
              </a:rPr>
              <a:t>AI Wellbeing Companion &amp; Personal </a:t>
            </a:r>
            <a:r>
              <a:rPr lang="en-US" sz="1600" dirty="0" smtClean="0">
                <a:solidFill>
                  <a:srgbClr val="F8E9DD"/>
                </a:solidFill>
                <a:latin typeface="Candara" panose="020E0502030303020204" pitchFamily="34" charset="0"/>
                <a:ea typeface="Aptos" pitchFamily="34" charset="-122"/>
                <a:cs typeface="Aptos" pitchFamily="34" charset="-120"/>
              </a:rPr>
              <a:t>Radio Jockey</a:t>
            </a:r>
            <a:endParaRPr lang="en-US" sz="1600" dirty="0">
              <a:latin typeface="Candara" panose="020E0502030303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088" y="51755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Survey-led </a:t>
            </a:r>
            <a:r>
              <a:rPr lang="en-US" sz="1100" b="1" dirty="0" smtClean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thesis</a:t>
            </a:r>
            <a:r>
              <a:rPr lang="en-US" sz="1100" dirty="0" smtClean="0"/>
              <a:t> </a:t>
            </a:r>
            <a:r>
              <a:rPr lang="en-US" sz="1100" dirty="0" smtClean="0">
                <a:solidFill>
                  <a:srgbClr val="F8E9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</a:t>
            </a:r>
            <a:r>
              <a:rPr lang="en-US" sz="1100" dirty="0">
                <a:solidFill>
                  <a:srgbClr val="F8E9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110 human </a:t>
            </a:r>
            <a:r>
              <a:rPr lang="en-US" sz="1100" dirty="0" smtClean="0">
                <a:solidFill>
                  <a:srgbClr val="F8E9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321956" y="6362700"/>
            <a:ext cx="13626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8E9DD"/>
                </a:solidFill>
                <a:latin typeface="Candara" panose="020E0502030303020204" pitchFamily="34" charset="0"/>
                <a:ea typeface="Aptos" pitchFamily="34" charset="-122"/>
                <a:cs typeface="Aptos" pitchFamily="34" charset="-120"/>
              </a:rPr>
              <a:t>UNSW Founders / PFC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736590" y="692176"/>
            <a:ext cx="696262" cy="696262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sp>
        <p:nvSpPr>
          <p:cNvPr id="11" name="Text 1"/>
          <p:cNvSpPr/>
          <p:nvPr/>
        </p:nvSpPr>
        <p:spPr>
          <a:xfrm>
            <a:off x="595508" y="2040710"/>
            <a:ext cx="108696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dirty="0">
                <a:solidFill>
                  <a:srgbClr val="F8E9DD"/>
                </a:solidFill>
                <a:latin typeface="Candara" panose="020E0502030303020204" pitchFamily="34" charset="0"/>
                <a:ea typeface="Aptos" pitchFamily="34" charset="-122"/>
                <a:cs typeface="Aptos" pitchFamily="34" charset="-120"/>
              </a:rPr>
              <a:t>Music </a:t>
            </a:r>
            <a:r>
              <a:rPr lang="en-US" sz="4000" dirty="0" smtClean="0">
                <a:solidFill>
                  <a:srgbClr val="F8E9DD"/>
                </a:solidFill>
                <a:latin typeface="Webdings" panose="05030102010509060703" pitchFamily="18" charset="2"/>
                <a:ea typeface="Aptos" pitchFamily="34" charset="-122"/>
                <a:cs typeface="Aptos" pitchFamily="34" charset="-120"/>
              </a:rPr>
              <a:t>l </a:t>
            </a:r>
            <a:r>
              <a:rPr lang="en-US" sz="4000" dirty="0" smtClean="0">
                <a:solidFill>
                  <a:srgbClr val="F8E9DD"/>
                </a:solidFill>
                <a:latin typeface="Candara" panose="020E0502030303020204" pitchFamily="34" charset="0"/>
                <a:ea typeface="Aptos" pitchFamily="34" charset="-122"/>
                <a:cs typeface="Aptos" pitchFamily="34" charset="-120"/>
              </a:rPr>
              <a:t>Conversation </a:t>
            </a:r>
            <a:r>
              <a:rPr lang="en-US" sz="4000" dirty="0">
                <a:solidFill>
                  <a:srgbClr val="F8E9DD"/>
                </a:solidFill>
                <a:latin typeface="Webdings" panose="05030102010509060703" pitchFamily="18" charset="2"/>
                <a:ea typeface="Aptos" pitchFamily="34" charset="-122"/>
                <a:cs typeface="Aptos" pitchFamily="34" charset="-120"/>
              </a:rPr>
              <a:t>l</a:t>
            </a:r>
            <a:r>
              <a:rPr lang="en-AU" sz="4000" b="1" dirty="0" smtClean="0">
                <a:solidFill>
                  <a:srgbClr val="F8E9DD"/>
                </a:solidFill>
                <a:latin typeface="Candara" panose="020E0502030303020204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4000" dirty="0" smtClean="0">
                <a:solidFill>
                  <a:srgbClr val="F8E9DD"/>
                </a:solidFill>
                <a:latin typeface="Candara" panose="020E0502030303020204" pitchFamily="34" charset="0"/>
                <a:ea typeface="Aptos" pitchFamily="34" charset="-122"/>
                <a:cs typeface="Aptos" pitchFamily="34" charset="-120"/>
              </a:rPr>
              <a:t>Personal Wellbeing</a:t>
            </a:r>
            <a:endParaRPr lang="en-US" sz="4000" dirty="0">
              <a:solidFill>
                <a:srgbClr val="F8E9DD"/>
              </a:solidFill>
              <a:latin typeface="Candara" panose="020E0502030303020204" pitchFamily="34" charset="0"/>
              <a:ea typeface="Aptos" pitchFamily="34" charset="-122"/>
              <a:cs typeface="Aptos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56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| PROBLEM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E17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People use music and conversation to cope — but support is fragmented.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1612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 shows a strong emotional need, not just a recommendation problem.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survey n=110  |  RedDust investor pitch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210544" y="64556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B65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72%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060704" y="2587752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 music helps during difficult moments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0" y="1965960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3E6B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84%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529584" y="2587752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 meaningful conversations help understand emotions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0" y="1828800"/>
            <a:ext cx="4297680" cy="1325880"/>
          </a:xfrm>
          <a:prstGeom prst="roundRect">
            <a:avLst>
              <a:gd name="adj" fmla="val 5517"/>
            </a:avLst>
          </a:prstGeom>
          <a:solidFill>
            <a:srgbClr val="FFF2EA"/>
          </a:solidFill>
          <a:ln w="12700">
            <a:solidFill>
              <a:srgbClr val="F3D9C7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>
              <a:buNone/>
            </a:pPr>
            <a:r>
              <a:rPr lang="en-US" sz="1700" i="1" dirty="0">
                <a:solidFill>
                  <a:srgbClr val="7A34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“People don’t just need recommendations, they need to feel understood.”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051560" y="4160520"/>
            <a:ext cx="9966960" cy="0"/>
          </a:xfrm>
          <a:prstGeom prst="line">
            <a:avLst/>
          </a:prstGeom>
          <a:noFill/>
          <a:ln w="25400">
            <a:solidFill>
              <a:srgbClr val="D8C7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0599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2834640" y="40599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3E6B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Friends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754880" y="40599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C78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Journaling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6949440" y="40599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385C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Meditation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9052560" y="40599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7A34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chat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1965960" y="498348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17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Users already assemble emotional support from separate tools — none carries the whole context.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56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| CUSTOMER SEGMENT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E17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with digitally comfortable students and young professionals.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1612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beachhead is young, mobile-first, and already using digital tools for everyday life.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survey n=110  |  RedDust investor pitch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210544" y="64556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877824" y="1819656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7A34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932688" y="2441448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age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60320" y="1819656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B65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90%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615184" y="2441448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digitally comfortable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42816" y="1819656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3E6B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60%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4297680" y="2441448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or early-career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04672" y="30906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7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 profile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4672" y="3438144"/>
            <a:ext cx="9144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&lt;18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1901952" y="3485236"/>
            <a:ext cx="2670048" cy="112471"/>
          </a:xfrm>
          <a:prstGeom prst="rect">
            <a:avLst/>
          </a:prstGeom>
          <a:solidFill>
            <a:srgbClr val="EAD8CB"/>
          </a:solidFill>
          <a:ln w="12700">
            <a:solidFill>
              <a:srgbClr val="EAD8C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1952" y="3485236"/>
            <a:ext cx="267005" cy="112471"/>
          </a:xfrm>
          <a:prstGeom prst="rect">
            <a:avLst/>
          </a:prstGeom>
          <a:solidFill>
            <a:srgbClr val="B6532A"/>
          </a:solidFill>
          <a:ln w="12700">
            <a:solidFill>
              <a:srgbClr val="B6532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36008" y="3447288"/>
            <a:ext cx="4572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4%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804672" y="3736238"/>
            <a:ext cx="9144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18–22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1901952" y="3783330"/>
            <a:ext cx="2670048" cy="112471"/>
          </a:xfrm>
          <a:prstGeom prst="rect">
            <a:avLst/>
          </a:prstGeom>
          <a:solidFill>
            <a:srgbClr val="EAD8CB"/>
          </a:solidFill>
          <a:ln w="12700">
            <a:solidFill>
              <a:srgbClr val="EAD8CB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1952" y="3783330"/>
            <a:ext cx="2269541" cy="112471"/>
          </a:xfrm>
          <a:prstGeom prst="rect">
            <a:avLst/>
          </a:prstGeom>
          <a:solidFill>
            <a:srgbClr val="B6532A"/>
          </a:solidFill>
          <a:ln w="12700">
            <a:solidFill>
              <a:srgbClr val="B6532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36008" y="3745382"/>
            <a:ext cx="4572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34%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804672" y="4034333"/>
            <a:ext cx="9144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23–30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1901952" y="4081424"/>
            <a:ext cx="2670048" cy="112471"/>
          </a:xfrm>
          <a:prstGeom prst="rect">
            <a:avLst/>
          </a:prstGeom>
          <a:solidFill>
            <a:srgbClr val="EAD8CB"/>
          </a:solidFill>
          <a:ln w="12700">
            <a:solidFill>
              <a:srgbClr val="EAD8C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1952" y="4081424"/>
            <a:ext cx="2202790" cy="112471"/>
          </a:xfrm>
          <a:prstGeom prst="rect">
            <a:avLst/>
          </a:prstGeom>
          <a:solidFill>
            <a:srgbClr val="B6532A"/>
          </a:solidFill>
          <a:ln w="12700">
            <a:solidFill>
              <a:srgbClr val="B6532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36008" y="4043477"/>
            <a:ext cx="4572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33%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804672" y="4332427"/>
            <a:ext cx="9144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31–40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1901952" y="4379519"/>
            <a:ext cx="2670048" cy="112471"/>
          </a:xfrm>
          <a:prstGeom prst="rect">
            <a:avLst/>
          </a:prstGeom>
          <a:solidFill>
            <a:srgbClr val="EAD8CB"/>
          </a:solidFill>
          <a:ln w="12700">
            <a:solidFill>
              <a:srgbClr val="EAD8C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01952" y="4379519"/>
            <a:ext cx="734263" cy="112471"/>
          </a:xfrm>
          <a:prstGeom prst="rect">
            <a:avLst/>
          </a:prstGeom>
          <a:solidFill>
            <a:srgbClr val="B6532A"/>
          </a:solidFill>
          <a:ln w="12700">
            <a:solidFill>
              <a:srgbClr val="B6532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36008" y="4341571"/>
            <a:ext cx="4572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11%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804672" y="4630522"/>
            <a:ext cx="9144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41+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1901952" y="4677613"/>
            <a:ext cx="2670048" cy="112471"/>
          </a:xfrm>
          <a:prstGeom prst="rect">
            <a:avLst/>
          </a:prstGeom>
          <a:solidFill>
            <a:srgbClr val="EAD8CB"/>
          </a:solidFill>
          <a:ln w="12700">
            <a:solidFill>
              <a:srgbClr val="EAD8CB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01952" y="4677613"/>
            <a:ext cx="1268273" cy="112471"/>
          </a:xfrm>
          <a:prstGeom prst="rect">
            <a:avLst/>
          </a:prstGeom>
          <a:solidFill>
            <a:srgbClr val="B6532A"/>
          </a:solidFill>
          <a:ln w="12700">
            <a:solidFill>
              <a:srgbClr val="B6532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36008" y="4639666"/>
            <a:ext cx="457200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19%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5897880" y="16824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7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Country footprint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053328" y="2157984"/>
            <a:ext cx="141732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7653528" y="2256854"/>
            <a:ext cx="2670048" cy="216027"/>
          </a:xfrm>
          <a:prstGeom prst="rect">
            <a:avLst/>
          </a:prstGeom>
          <a:solidFill>
            <a:srgbClr val="EAD8CB"/>
          </a:solidFill>
          <a:ln w="12700">
            <a:solidFill>
              <a:srgbClr val="EAD8CB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53528" y="2256854"/>
            <a:ext cx="2378770" cy="216027"/>
          </a:xfrm>
          <a:prstGeom prst="rect">
            <a:avLst/>
          </a:prstGeom>
          <a:solidFill>
            <a:srgbClr val="B6532A"/>
          </a:solidFill>
          <a:ln w="12700">
            <a:solidFill>
              <a:srgbClr val="B6532A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387584" y="2167128"/>
            <a:ext cx="45720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49%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6053328" y="2699766"/>
            <a:ext cx="141732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Australia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7653528" y="2798636"/>
            <a:ext cx="2670048" cy="216027"/>
          </a:xfrm>
          <a:prstGeom prst="rect">
            <a:avLst/>
          </a:prstGeom>
          <a:solidFill>
            <a:srgbClr val="EAD8CB"/>
          </a:solidFill>
          <a:ln w="12700">
            <a:solidFill>
              <a:srgbClr val="EAD8CB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53528" y="2798636"/>
            <a:ext cx="1893307" cy="216027"/>
          </a:xfrm>
          <a:prstGeom prst="rect">
            <a:avLst/>
          </a:prstGeom>
          <a:solidFill>
            <a:srgbClr val="3E6B54"/>
          </a:solidFill>
          <a:ln w="12700">
            <a:solidFill>
              <a:srgbClr val="3E6B54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87584" y="2708910"/>
            <a:ext cx="45720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3E6B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39%</a:t>
            </a:r>
            <a:endParaRPr lang="en-US" sz="860" dirty="0"/>
          </a:p>
        </p:txBody>
      </p:sp>
      <p:sp>
        <p:nvSpPr>
          <p:cNvPr id="43" name="Text 41"/>
          <p:cNvSpPr/>
          <p:nvPr/>
        </p:nvSpPr>
        <p:spPr>
          <a:xfrm>
            <a:off x="6053328" y="3241548"/>
            <a:ext cx="141732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Philippines</a:t>
            </a:r>
            <a:endParaRPr lang="en-US" sz="860" dirty="0"/>
          </a:p>
        </p:txBody>
      </p:sp>
      <p:sp>
        <p:nvSpPr>
          <p:cNvPr id="44" name="Shape 42"/>
          <p:cNvSpPr/>
          <p:nvPr/>
        </p:nvSpPr>
        <p:spPr>
          <a:xfrm>
            <a:off x="7653528" y="3340418"/>
            <a:ext cx="2670048" cy="216027"/>
          </a:xfrm>
          <a:prstGeom prst="rect">
            <a:avLst/>
          </a:prstGeom>
          <a:solidFill>
            <a:srgbClr val="EAD8CB"/>
          </a:solidFill>
          <a:ln w="12700">
            <a:solidFill>
              <a:srgbClr val="EAD8CB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53528" y="3340418"/>
            <a:ext cx="291278" cy="216027"/>
          </a:xfrm>
          <a:prstGeom prst="rect">
            <a:avLst/>
          </a:prstGeom>
          <a:solidFill>
            <a:srgbClr val="C78A43"/>
          </a:solidFill>
          <a:ln w="12700">
            <a:solidFill>
              <a:srgbClr val="C78A43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387584" y="3250692"/>
            <a:ext cx="45720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C78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6%</a:t>
            </a:r>
            <a:endParaRPr lang="en-US" sz="860" dirty="0"/>
          </a:p>
        </p:txBody>
      </p:sp>
      <p:sp>
        <p:nvSpPr>
          <p:cNvPr id="47" name="Text 45"/>
          <p:cNvSpPr/>
          <p:nvPr/>
        </p:nvSpPr>
        <p:spPr>
          <a:xfrm>
            <a:off x="6053328" y="3783330"/>
            <a:ext cx="141732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countries</a:t>
            </a:r>
            <a:endParaRPr lang="en-US" sz="860" dirty="0"/>
          </a:p>
        </p:txBody>
      </p:sp>
      <p:sp>
        <p:nvSpPr>
          <p:cNvPr id="48" name="Shape 46"/>
          <p:cNvSpPr/>
          <p:nvPr/>
        </p:nvSpPr>
        <p:spPr>
          <a:xfrm>
            <a:off x="7653528" y="3882200"/>
            <a:ext cx="2670048" cy="216027"/>
          </a:xfrm>
          <a:prstGeom prst="rect">
            <a:avLst/>
          </a:prstGeom>
          <a:solidFill>
            <a:srgbClr val="EAD8CB"/>
          </a:solidFill>
          <a:ln w="12700">
            <a:solidFill>
              <a:srgbClr val="EAD8CB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653528" y="3882200"/>
            <a:ext cx="291278" cy="216027"/>
          </a:xfrm>
          <a:prstGeom prst="rect">
            <a:avLst/>
          </a:prstGeom>
          <a:solidFill>
            <a:srgbClr val="385C7D"/>
          </a:solidFill>
          <a:ln w="12700">
            <a:solidFill>
              <a:srgbClr val="385C7D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387584" y="3792474"/>
            <a:ext cx="45720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385C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6%</a:t>
            </a:r>
            <a:endParaRPr lang="en-US" sz="860" dirty="0"/>
          </a:p>
        </p:txBody>
      </p:sp>
      <p:sp>
        <p:nvSpPr>
          <p:cNvPr id="51" name="Text 49"/>
          <p:cNvSpPr/>
          <p:nvPr/>
        </p:nvSpPr>
        <p:spPr>
          <a:xfrm>
            <a:off x="6071616" y="466344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sample is strongest in India and Australia, with a clear student / young-professional core.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56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| CURRENT ALTERNATIVES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E17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Users patch together music apps, people, journaling, meditation, therapy and AI chat.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1612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music usage is clear, but emotional support is still assembled manually.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survey n=110  |  RedDust investor pitch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210544" y="64556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877824" y="1892808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B65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79%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932688" y="25146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listen to music frequently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0" y="1755648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1F8F2"/>
          </a:solidFill>
          <a:ln w="12700">
            <a:solidFill>
              <a:srgbClr val="BFD6C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>
              <a:buNone/>
            </a:pPr>
            <a:r>
              <a:rPr lang="en-US" sz="1600" i="1" dirty="0">
                <a:solidFill>
                  <a:srgbClr val="3E6B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“I need to talk to someone.”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93792" y="2971800"/>
            <a:ext cx="1417320" cy="1417320"/>
          </a:xfrm>
          <a:prstGeom prst="ellipse">
            <a:avLst/>
          </a:prstGeom>
          <a:solidFill>
            <a:srgbClr val="1E1713"/>
          </a:solidFill>
          <a:ln>
            <a:solidFill>
              <a:srgbClr val="1E171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08376" y="2359152"/>
            <a:ext cx="1252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3E6B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Spotify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4105656" y="2084832"/>
            <a:ext cx="1252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A23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YouTube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6848856" y="2084832"/>
            <a:ext cx="1252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C78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Friends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8677656" y="2542032"/>
            <a:ext cx="1252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385C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Journaling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2459736" y="4873752"/>
            <a:ext cx="1252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6979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Calm / Headspace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4654296" y="5422392"/>
            <a:ext cx="1252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7A34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Therapy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7031736" y="5285232"/>
            <a:ext cx="1252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ChatGPT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9043416" y="4828032"/>
            <a:ext cx="1252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Radio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1645920" y="598932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17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gap is not another app category. The gap is continuity — carrying mood, music taste and reflection together.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56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| WHY EXISTING SOLUTIONS FAIL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E17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single solution knows the whole person.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1612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Spotify knows music. ChatGPT knows conversation. Calm knows meditation. RedDust connects the context.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survey n=110  |  RedDust investor pitch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210544" y="64556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749808" y="1682496"/>
            <a:ext cx="2057400" cy="420624"/>
          </a:xfrm>
          <a:prstGeom prst="rect">
            <a:avLst/>
          </a:prstGeom>
          <a:solidFill>
            <a:srgbClr val="7A341B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819656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807208" y="1682496"/>
            <a:ext cx="1417320" cy="420624"/>
          </a:xfrm>
          <a:prstGeom prst="rect">
            <a:avLst/>
          </a:prstGeom>
          <a:solidFill>
            <a:srgbClr val="B6532A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52928" y="181965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taste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224528" y="1682496"/>
            <a:ext cx="1508760" cy="420624"/>
          </a:xfrm>
          <a:prstGeom prst="rect">
            <a:avLst/>
          </a:prstGeom>
          <a:solidFill>
            <a:srgbClr val="B6532A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0248" y="1819656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733288" y="1682496"/>
            <a:ext cx="1645920" cy="420624"/>
          </a:xfrm>
          <a:prstGeom prst="rect">
            <a:avLst/>
          </a:prstGeom>
          <a:solidFill>
            <a:srgbClr val="B6532A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79008" y="181965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Wellbeing journey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379208" y="1682496"/>
            <a:ext cx="1645920" cy="420624"/>
          </a:xfrm>
          <a:prstGeom prst="rect">
            <a:avLst/>
          </a:prstGeom>
          <a:solidFill>
            <a:srgbClr val="B6532A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24928" y="181965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Whole-person profile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025128" y="1682496"/>
            <a:ext cx="1463040" cy="420624"/>
          </a:xfrm>
          <a:prstGeom prst="rect">
            <a:avLst/>
          </a:prstGeom>
          <a:solidFill>
            <a:srgbClr val="B6532A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70848" y="1819656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/ privacy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49808" y="2103120"/>
            <a:ext cx="2057400" cy="521208"/>
          </a:xfrm>
          <a:prstGeom prst="rect">
            <a:avLst/>
          </a:prstGeom>
          <a:solidFill>
            <a:srgbClr val="F6E9DE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2276856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Spotify / YouTube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2807208" y="2103120"/>
            <a:ext cx="1417320" cy="521208"/>
          </a:xfrm>
          <a:prstGeom prst="rect">
            <a:avLst/>
          </a:prstGeom>
          <a:solidFill>
            <a:srgbClr val="F6E9DE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07208" y="22128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E6B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24528" y="2103120"/>
            <a:ext cx="1508760" cy="521208"/>
          </a:xfrm>
          <a:prstGeom prst="rect">
            <a:avLst/>
          </a:prstGeom>
          <a:solidFill>
            <a:srgbClr val="F6E9DE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24528" y="221284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8C7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733288" y="2103120"/>
            <a:ext cx="1645920" cy="521208"/>
          </a:xfrm>
          <a:prstGeom prst="rect">
            <a:avLst/>
          </a:prstGeom>
          <a:solidFill>
            <a:srgbClr val="F6E9DE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33288" y="22128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8C7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79208" y="2103120"/>
            <a:ext cx="1645920" cy="521208"/>
          </a:xfrm>
          <a:prstGeom prst="rect">
            <a:avLst/>
          </a:prstGeom>
          <a:solidFill>
            <a:srgbClr val="F6E9DE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79208" y="22128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8C7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025128" y="2103120"/>
            <a:ext cx="1463040" cy="521208"/>
          </a:xfrm>
          <a:prstGeom prst="rect">
            <a:avLst/>
          </a:prstGeom>
          <a:solidFill>
            <a:srgbClr val="F6E9DE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25128" y="22128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E6B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49808" y="2624328"/>
            <a:ext cx="2057400" cy="521208"/>
          </a:xfrm>
          <a:prstGeom prst="rect">
            <a:avLst/>
          </a:prstGeom>
          <a:solidFill>
            <a:srgbClr val="FFF9F2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" y="2798064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ChatGPT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2807208" y="2624328"/>
            <a:ext cx="1417320" cy="521208"/>
          </a:xfrm>
          <a:prstGeom prst="rect">
            <a:avLst/>
          </a:prstGeom>
          <a:solidFill>
            <a:srgbClr val="FFF9F2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07208" y="273405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8C7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224528" y="2624328"/>
            <a:ext cx="1508760" cy="521208"/>
          </a:xfrm>
          <a:prstGeom prst="rect">
            <a:avLst/>
          </a:prstGeom>
          <a:solidFill>
            <a:srgbClr val="FFF9F2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24528" y="273405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E6B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733288" y="2624328"/>
            <a:ext cx="1645920" cy="521208"/>
          </a:xfrm>
          <a:prstGeom prst="rect">
            <a:avLst/>
          </a:prstGeom>
          <a:solidFill>
            <a:srgbClr val="FFF9F2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33288" y="27340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8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379208" y="2624328"/>
            <a:ext cx="1645920" cy="521208"/>
          </a:xfrm>
          <a:prstGeom prst="rect">
            <a:avLst/>
          </a:prstGeom>
          <a:solidFill>
            <a:srgbClr val="FFF9F2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79208" y="27340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8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9025128" y="2624328"/>
            <a:ext cx="1463040" cy="521208"/>
          </a:xfrm>
          <a:prstGeom prst="rect">
            <a:avLst/>
          </a:prstGeom>
          <a:solidFill>
            <a:srgbClr val="FFF9F2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25128" y="27340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8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49808" y="3145536"/>
            <a:ext cx="2057400" cy="521208"/>
          </a:xfrm>
          <a:prstGeom prst="rect">
            <a:avLst/>
          </a:prstGeom>
          <a:solidFill>
            <a:srgbClr val="F6E9DE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9536" y="3319272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Calm / meditation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2807208" y="3145536"/>
            <a:ext cx="1417320" cy="521208"/>
          </a:xfrm>
          <a:prstGeom prst="rect">
            <a:avLst/>
          </a:prstGeom>
          <a:solidFill>
            <a:srgbClr val="F6E9DE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07208" y="325526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8C7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224528" y="3145536"/>
            <a:ext cx="1508760" cy="521208"/>
          </a:xfrm>
          <a:prstGeom prst="rect">
            <a:avLst/>
          </a:prstGeom>
          <a:solidFill>
            <a:srgbClr val="F6E9DE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24528" y="325526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8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733288" y="3145536"/>
            <a:ext cx="1645920" cy="521208"/>
          </a:xfrm>
          <a:prstGeom prst="rect">
            <a:avLst/>
          </a:prstGeom>
          <a:solidFill>
            <a:srgbClr val="F6E9DE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33288" y="325526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E6B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7379208" y="3145536"/>
            <a:ext cx="1645920" cy="521208"/>
          </a:xfrm>
          <a:prstGeom prst="rect">
            <a:avLst/>
          </a:prstGeom>
          <a:solidFill>
            <a:srgbClr val="F6E9DE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79208" y="325526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8C7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9025128" y="3145536"/>
            <a:ext cx="1463040" cy="521208"/>
          </a:xfrm>
          <a:prstGeom prst="rect">
            <a:avLst/>
          </a:prstGeom>
          <a:solidFill>
            <a:srgbClr val="F6E9DE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25128" y="32552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8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749808" y="3666744"/>
            <a:ext cx="2057400" cy="521208"/>
          </a:xfrm>
          <a:prstGeom prst="rect">
            <a:avLst/>
          </a:prstGeom>
          <a:solidFill>
            <a:srgbClr val="FFF9F2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9536" y="384048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Therapy / friends</a:t>
            </a:r>
            <a:endParaRPr lang="en-US" sz="830" dirty="0"/>
          </a:p>
        </p:txBody>
      </p:sp>
      <p:sp>
        <p:nvSpPr>
          <p:cNvPr id="57" name="Shape 55"/>
          <p:cNvSpPr/>
          <p:nvPr/>
        </p:nvSpPr>
        <p:spPr>
          <a:xfrm>
            <a:off x="2807208" y="3666744"/>
            <a:ext cx="1417320" cy="521208"/>
          </a:xfrm>
          <a:prstGeom prst="rect">
            <a:avLst/>
          </a:prstGeom>
          <a:solidFill>
            <a:srgbClr val="FFF9F2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07208" y="37764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8C7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4224528" y="3666744"/>
            <a:ext cx="1508760" cy="521208"/>
          </a:xfrm>
          <a:prstGeom prst="rect">
            <a:avLst/>
          </a:prstGeom>
          <a:solidFill>
            <a:srgbClr val="FFF9F2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24528" y="377647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E6B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5733288" y="3666744"/>
            <a:ext cx="1645920" cy="521208"/>
          </a:xfrm>
          <a:prstGeom prst="rect">
            <a:avLst/>
          </a:prstGeom>
          <a:solidFill>
            <a:srgbClr val="FFF9F2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33288" y="377647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E6B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7379208" y="3666744"/>
            <a:ext cx="1645920" cy="521208"/>
          </a:xfrm>
          <a:prstGeom prst="rect">
            <a:avLst/>
          </a:prstGeom>
          <a:solidFill>
            <a:srgbClr val="FFF9F2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79208" y="377647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8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9025128" y="3666744"/>
            <a:ext cx="1463040" cy="521208"/>
          </a:xfrm>
          <a:prstGeom prst="rect">
            <a:avLst/>
          </a:prstGeom>
          <a:solidFill>
            <a:srgbClr val="FFF9F2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025128" y="37764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E6B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749808" y="4187952"/>
            <a:ext cx="2057400" cy="521208"/>
          </a:xfrm>
          <a:prstGeom prst="rect">
            <a:avLst/>
          </a:prstGeom>
          <a:solidFill>
            <a:srgbClr val="FFF0E7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59536" y="4361688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RedDust</a:t>
            </a:r>
            <a:endParaRPr lang="en-US" sz="830" dirty="0"/>
          </a:p>
        </p:txBody>
      </p:sp>
      <p:sp>
        <p:nvSpPr>
          <p:cNvPr id="69" name="Shape 67"/>
          <p:cNvSpPr/>
          <p:nvPr/>
        </p:nvSpPr>
        <p:spPr>
          <a:xfrm>
            <a:off x="2807208" y="4187952"/>
            <a:ext cx="1417320" cy="521208"/>
          </a:xfrm>
          <a:prstGeom prst="rect">
            <a:avLst/>
          </a:prstGeom>
          <a:solidFill>
            <a:srgbClr val="FFF0E7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807208" y="429768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4224528" y="4187952"/>
            <a:ext cx="1508760" cy="521208"/>
          </a:xfrm>
          <a:prstGeom prst="rect">
            <a:avLst/>
          </a:prstGeom>
          <a:solidFill>
            <a:srgbClr val="FFF0E7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224528" y="429768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5733288" y="4187952"/>
            <a:ext cx="1645920" cy="521208"/>
          </a:xfrm>
          <a:prstGeom prst="rect">
            <a:avLst/>
          </a:prstGeom>
          <a:solidFill>
            <a:srgbClr val="FFF0E7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733288" y="42976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7379208" y="4187952"/>
            <a:ext cx="1645920" cy="521208"/>
          </a:xfrm>
          <a:prstGeom prst="rect">
            <a:avLst/>
          </a:prstGeom>
          <a:solidFill>
            <a:srgbClr val="FFF0E7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379208" y="42976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9025128" y="4187952"/>
            <a:ext cx="1463040" cy="521208"/>
          </a:xfrm>
          <a:prstGeom prst="rect">
            <a:avLst/>
          </a:prstGeom>
          <a:solidFill>
            <a:srgbClr val="FFF0E7"/>
          </a:solidFill>
          <a:ln w="12700">
            <a:solidFill>
              <a:srgbClr val="FDF7F0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025128" y="42976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1033272" y="5120640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A23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66%</a:t>
            </a:r>
            <a:endParaRPr lang="en-US" sz="3300" dirty="0"/>
          </a:p>
        </p:txBody>
      </p:sp>
      <p:sp>
        <p:nvSpPr>
          <p:cNvPr id="80" name="Text 78"/>
          <p:cNvSpPr/>
          <p:nvPr/>
        </p:nvSpPr>
        <p:spPr>
          <a:xfrm>
            <a:off x="1088136" y="5742432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cite privacy concerns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2761488" y="5120640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3E6B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44%</a:t>
            </a:r>
            <a:endParaRPr lang="en-US" sz="3300" dirty="0"/>
          </a:p>
        </p:txBody>
      </p:sp>
      <p:sp>
        <p:nvSpPr>
          <p:cNvPr id="82" name="Text 80"/>
          <p:cNvSpPr/>
          <p:nvPr/>
        </p:nvSpPr>
        <p:spPr>
          <a:xfrm>
            <a:off x="2816352" y="5742432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talking to people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4489704" y="5120640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A23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32%</a:t>
            </a:r>
            <a:endParaRPr lang="en-US" sz="3300" dirty="0"/>
          </a:p>
        </p:txBody>
      </p:sp>
      <p:sp>
        <p:nvSpPr>
          <p:cNvPr id="84" name="Text 82"/>
          <p:cNvSpPr/>
          <p:nvPr/>
        </p:nvSpPr>
        <p:spPr>
          <a:xfrm>
            <a:off x="4544568" y="5742432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lack trust in AI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6446520" y="4892040"/>
            <a:ext cx="3840480" cy="896112"/>
          </a:xfrm>
          <a:prstGeom prst="roundRect">
            <a:avLst>
              <a:gd name="adj" fmla="val 8163"/>
            </a:avLst>
          </a:prstGeom>
          <a:solidFill>
            <a:srgbClr val="FFF7F2"/>
          </a:solidFill>
          <a:ln w="12700">
            <a:solidFill>
              <a:srgbClr val="E8CABB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7A34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“Information is still stored somewhere about me.”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56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| SOLUTION — REDDUST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E17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Personalised music + meaningful conversation + reflection + wellbeing support.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1612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RedDust is a supportive layer between people and their existing music life.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survey n=110  |  RedDust investor pitch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210544" y="64556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877824" y="1764792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B65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73%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932688" y="238658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want recommendations that adapt or learn over time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0" y="1627632"/>
            <a:ext cx="2468880" cy="932688"/>
          </a:xfrm>
          <a:prstGeom prst="roundRect">
            <a:avLst>
              <a:gd name="adj" fmla="val 7843"/>
            </a:avLst>
          </a:prstGeom>
          <a:solidFill>
            <a:srgbClr val="FFF2EA"/>
          </a:solidFill>
          <a:ln w="12700">
            <a:solidFill>
              <a:srgbClr val="F3D9C7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>
              <a:buNone/>
            </a:pPr>
            <a:r>
              <a:rPr lang="en-US" sz="1500" i="1" dirty="0">
                <a:solidFill>
                  <a:srgbClr val="7A34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“Yes, but it needs to be very personalised.”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3017520"/>
            <a:ext cx="1143000" cy="1143000"/>
          </a:xfrm>
          <a:prstGeom prst="ellipse">
            <a:avLst/>
          </a:prstGeom>
          <a:solidFill>
            <a:srgbClr val="7A341B"/>
          </a:solidFill>
          <a:ln>
            <a:solidFill>
              <a:srgbClr val="7A341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Mood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3063240" y="3017520"/>
            <a:ext cx="1143000" cy="1143000"/>
          </a:xfrm>
          <a:prstGeom prst="ellipse">
            <a:avLst/>
          </a:prstGeom>
          <a:solidFill>
            <a:srgbClr val="3E6B54"/>
          </a:solidFill>
          <a:ln>
            <a:solidFill>
              <a:srgbClr val="3E6B5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5257800" y="3017520"/>
            <a:ext cx="1143000" cy="1143000"/>
          </a:xfrm>
          <a:prstGeom prst="ellipse">
            <a:avLst/>
          </a:prstGeom>
          <a:solidFill>
            <a:srgbClr val="B6532A"/>
          </a:solidFill>
          <a:ln>
            <a:solidFill>
              <a:srgbClr val="B6532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223760" y="3017520"/>
            <a:ext cx="1143000" cy="1143000"/>
          </a:xfrm>
          <a:prstGeom prst="ellipse">
            <a:avLst/>
          </a:prstGeom>
          <a:solidFill>
            <a:srgbClr val="385C7D"/>
          </a:solidFill>
          <a:ln>
            <a:solidFill>
              <a:srgbClr val="385C7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Reflection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9281160" y="3017520"/>
            <a:ext cx="1143000" cy="1143000"/>
          </a:xfrm>
          <a:prstGeom prst="ellipse">
            <a:avLst/>
          </a:prstGeom>
          <a:solidFill>
            <a:srgbClr val="C78A43"/>
          </a:solidFill>
          <a:ln>
            <a:solidFill>
              <a:srgbClr val="C78A43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3063240" y="466344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17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loop, not a one-off answer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066544" y="50749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interaction can learn enough to be useful while remaining optional, explainable and non-clinical.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56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| PRODUCT DEMO / USER JOURNEY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E17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stressed student gets support without friction.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1612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initial experience should be short, practical and emotionally intelligent.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survey n=110  |  RedDust investor pitch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210544" y="64556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777240" y="1627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7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desired outcomes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975104"/>
            <a:ext cx="2240280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focus / productivity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3200400" y="2039874"/>
            <a:ext cx="1527048" cy="147828"/>
          </a:xfrm>
          <a:prstGeom prst="rect">
            <a:avLst/>
          </a:prstGeom>
          <a:solidFill>
            <a:srgbClr val="EAD8CB"/>
          </a:solidFill>
          <a:ln w="12700">
            <a:solidFill>
              <a:srgbClr val="EAD8C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2039874"/>
            <a:ext cx="1297991" cy="147828"/>
          </a:xfrm>
          <a:prstGeom prst="rect">
            <a:avLst/>
          </a:prstGeom>
          <a:solidFill>
            <a:srgbClr val="B6532A"/>
          </a:solidFill>
          <a:ln w="12700">
            <a:solidFill>
              <a:srgbClr val="B6532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984248"/>
            <a:ext cx="457200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68%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777240" y="2398776"/>
            <a:ext cx="2240280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Healthier habits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3200400" y="2463546"/>
            <a:ext cx="1527048" cy="147828"/>
          </a:xfrm>
          <a:prstGeom prst="rect">
            <a:avLst/>
          </a:prstGeom>
          <a:solidFill>
            <a:srgbClr val="EAD8CB"/>
          </a:solidFill>
          <a:ln w="12700">
            <a:solidFill>
              <a:srgbClr val="EAD8C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2463546"/>
            <a:ext cx="1164374" cy="147828"/>
          </a:xfrm>
          <a:prstGeom prst="rect">
            <a:avLst/>
          </a:prstGeom>
          <a:solidFill>
            <a:srgbClr val="B6532A"/>
          </a:solidFill>
          <a:ln w="12700">
            <a:solidFill>
              <a:srgbClr val="B6532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91456" y="2407920"/>
            <a:ext cx="457200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61%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777240" y="2822448"/>
            <a:ext cx="2240280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Mental wellbeing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3200400" y="2887218"/>
            <a:ext cx="1527048" cy="147828"/>
          </a:xfrm>
          <a:prstGeom prst="rect">
            <a:avLst/>
          </a:prstGeom>
          <a:solidFill>
            <a:srgbClr val="EAD8CB"/>
          </a:solidFill>
          <a:ln w="12700">
            <a:solidFill>
              <a:srgbClr val="EAD8C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2887218"/>
            <a:ext cx="1049846" cy="147828"/>
          </a:xfrm>
          <a:prstGeom prst="rect">
            <a:avLst/>
          </a:prstGeom>
          <a:solidFill>
            <a:srgbClr val="B6532A"/>
          </a:solidFill>
          <a:ln w="12700">
            <a:solidFill>
              <a:srgbClr val="B6532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2831592"/>
            <a:ext cx="457200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55%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969264" y="3840480"/>
            <a:ext cx="347472" cy="347472"/>
          </a:xfrm>
          <a:prstGeom prst="ellipse">
            <a:avLst/>
          </a:prstGeom>
          <a:solidFill>
            <a:srgbClr val="7A341B"/>
          </a:solidFill>
          <a:ln>
            <a:solidFill>
              <a:srgbClr val="7A341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435608" y="38404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7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Check-in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4279392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“I’m overloaded before exams.”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3392424" y="3840480"/>
            <a:ext cx="347472" cy="347472"/>
          </a:xfrm>
          <a:prstGeom prst="ellipse">
            <a:avLst/>
          </a:prstGeom>
          <a:solidFill>
            <a:srgbClr val="3E6B54"/>
          </a:solidFill>
          <a:ln>
            <a:solidFill>
              <a:srgbClr val="3E6B5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858768" y="38404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7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Reflect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47288" y="4279392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RedDust asks one thoughtful question.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5815584" y="3840480"/>
            <a:ext cx="347472" cy="347472"/>
          </a:xfrm>
          <a:prstGeom prst="ellipse">
            <a:avLst/>
          </a:prstGeom>
          <a:solidFill>
            <a:srgbClr val="B6532A"/>
          </a:solidFill>
          <a:ln>
            <a:solidFill>
              <a:srgbClr val="B6532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81928" y="38404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7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870448" y="4279392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 playlist adapts to mood.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8238744" y="3840480"/>
            <a:ext cx="347472" cy="347472"/>
          </a:xfrm>
          <a:prstGeom prst="ellipse">
            <a:avLst/>
          </a:prstGeom>
          <a:solidFill>
            <a:srgbClr val="C78A43"/>
          </a:solidFill>
          <a:ln>
            <a:solidFill>
              <a:srgbClr val="C78A4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705088" y="38404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7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Progress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93608" y="4279392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tiny reflection closes the loop.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8887968" y="1627632"/>
            <a:ext cx="2057400" cy="1435608"/>
          </a:xfrm>
          <a:prstGeom prst="roundRect">
            <a:avLst>
              <a:gd name="adj" fmla="val 5096"/>
            </a:avLst>
          </a:prstGeom>
          <a:solidFill>
            <a:srgbClr val="F1F8F2"/>
          </a:solidFill>
          <a:ln w="12700">
            <a:solidFill>
              <a:srgbClr val="BFD6C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3E6B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“Low cognitive effort is the product requirement.”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56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| CUSTOMER VALIDATION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E17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 is validated. AI trust is the adoption challenge.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1612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and conversations score strongly; comfort with AI and adoption readiness are lower.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survey n=110  |  RedDust investor pitch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210544" y="64556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749808" y="1673352"/>
            <a:ext cx="3474720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helps during difficult moments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4407408" y="1774222"/>
            <a:ext cx="5779008" cy="220027"/>
          </a:xfrm>
          <a:prstGeom prst="rect">
            <a:avLst/>
          </a:prstGeom>
          <a:solidFill>
            <a:srgbClr val="EAD8CB"/>
          </a:solidFill>
          <a:ln w="12700">
            <a:solidFill>
              <a:srgbClr val="EAD8C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07408" y="1774222"/>
            <a:ext cx="4160886" cy="220027"/>
          </a:xfrm>
          <a:prstGeom prst="rect">
            <a:avLst/>
          </a:prstGeom>
          <a:solidFill>
            <a:srgbClr val="B6532A"/>
          </a:solidFill>
          <a:ln w="12700">
            <a:solidFill>
              <a:srgbClr val="B6532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50424" y="1682496"/>
            <a:ext cx="457200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72%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749808" y="2204847"/>
            <a:ext cx="3474720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supports long-term wellbeing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4407408" y="2305717"/>
            <a:ext cx="5779008" cy="220027"/>
          </a:xfrm>
          <a:prstGeom prst="rect">
            <a:avLst/>
          </a:prstGeom>
          <a:solidFill>
            <a:srgbClr val="EAD8CB"/>
          </a:solidFill>
          <a:ln w="12700">
            <a:solidFill>
              <a:srgbClr val="EAD8C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07408" y="2305717"/>
            <a:ext cx="4103096" cy="220027"/>
          </a:xfrm>
          <a:prstGeom prst="rect">
            <a:avLst/>
          </a:prstGeom>
          <a:solidFill>
            <a:srgbClr val="B6532A"/>
          </a:solidFill>
          <a:ln w="12700">
            <a:solidFill>
              <a:srgbClr val="B6532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50424" y="2213991"/>
            <a:ext cx="457200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71%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749808" y="2736342"/>
            <a:ext cx="3474720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choice depends on situation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4407408" y="2837212"/>
            <a:ext cx="5779008" cy="220027"/>
          </a:xfrm>
          <a:prstGeom prst="rect">
            <a:avLst/>
          </a:prstGeom>
          <a:solidFill>
            <a:srgbClr val="EAD8CB"/>
          </a:solidFill>
          <a:ln w="12700">
            <a:solidFill>
              <a:srgbClr val="EAD8C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07408" y="2837212"/>
            <a:ext cx="5201107" cy="220027"/>
          </a:xfrm>
          <a:prstGeom prst="rect">
            <a:avLst/>
          </a:prstGeom>
          <a:solidFill>
            <a:srgbClr val="B6532A"/>
          </a:solidFill>
          <a:ln w="12700">
            <a:solidFill>
              <a:srgbClr val="B6532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50424" y="2745486"/>
            <a:ext cx="457200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90%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749808" y="3267837"/>
            <a:ext cx="3474720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Meaningful conversations help emotions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4407408" y="3368707"/>
            <a:ext cx="5779008" cy="220027"/>
          </a:xfrm>
          <a:prstGeom prst="rect">
            <a:avLst/>
          </a:prstGeom>
          <a:solidFill>
            <a:srgbClr val="EAD8CB"/>
          </a:solidFill>
          <a:ln w="12700">
            <a:solidFill>
              <a:srgbClr val="EAD8C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07408" y="3368707"/>
            <a:ext cx="4854367" cy="220027"/>
          </a:xfrm>
          <a:prstGeom prst="rect">
            <a:avLst/>
          </a:prstGeom>
          <a:solidFill>
            <a:srgbClr val="B6532A"/>
          </a:solidFill>
          <a:ln w="12700">
            <a:solidFill>
              <a:srgbClr val="B6532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50424" y="3276981"/>
            <a:ext cx="457200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84%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749808" y="3799332"/>
            <a:ext cx="3474720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Unmet need for safe conversation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4407408" y="3900202"/>
            <a:ext cx="5779008" cy="220027"/>
          </a:xfrm>
          <a:prstGeom prst="rect">
            <a:avLst/>
          </a:prstGeom>
          <a:solidFill>
            <a:srgbClr val="EAD8CB"/>
          </a:solidFill>
          <a:ln w="12700">
            <a:solidFill>
              <a:srgbClr val="EAD8C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07408" y="3900202"/>
            <a:ext cx="3987516" cy="220027"/>
          </a:xfrm>
          <a:prstGeom prst="rect">
            <a:avLst/>
          </a:prstGeom>
          <a:solidFill>
            <a:srgbClr val="B6532A"/>
          </a:solidFill>
          <a:ln w="12700">
            <a:solidFill>
              <a:srgbClr val="B6532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50424" y="3808476"/>
            <a:ext cx="457200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69%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749808" y="4330827"/>
            <a:ext cx="3474720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+ conversation could work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4407408" y="4431697"/>
            <a:ext cx="5779008" cy="220027"/>
          </a:xfrm>
          <a:prstGeom prst="rect">
            <a:avLst/>
          </a:prstGeom>
          <a:solidFill>
            <a:srgbClr val="EAD8CB"/>
          </a:solidFill>
          <a:ln w="12700">
            <a:solidFill>
              <a:srgbClr val="EAD8CB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07408" y="4431697"/>
            <a:ext cx="2947294" cy="220027"/>
          </a:xfrm>
          <a:prstGeom prst="rect">
            <a:avLst/>
          </a:prstGeom>
          <a:solidFill>
            <a:srgbClr val="C78A43"/>
          </a:solidFill>
          <a:ln w="12700">
            <a:solidFill>
              <a:srgbClr val="C78A4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50424" y="4339971"/>
            <a:ext cx="457200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C78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51%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749808" y="4862322"/>
            <a:ext cx="3474720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Comfort with AI conversations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4407408" y="4963192"/>
            <a:ext cx="5779008" cy="220027"/>
          </a:xfrm>
          <a:prstGeom prst="rect">
            <a:avLst/>
          </a:prstGeom>
          <a:solidFill>
            <a:srgbClr val="EAD8CB"/>
          </a:solidFill>
          <a:ln w="12700">
            <a:solidFill>
              <a:srgbClr val="EAD8CB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07408" y="4963192"/>
            <a:ext cx="1849283" cy="220027"/>
          </a:xfrm>
          <a:prstGeom prst="rect">
            <a:avLst/>
          </a:prstGeom>
          <a:solidFill>
            <a:srgbClr val="A23A2A"/>
          </a:solidFill>
          <a:ln w="12700">
            <a:solidFill>
              <a:srgbClr val="A23A2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50424" y="4871466"/>
            <a:ext cx="457200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A23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32%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749808" y="5393817"/>
            <a:ext cx="3474720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Would try combined product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4407408" y="5494687"/>
            <a:ext cx="5779008" cy="220027"/>
          </a:xfrm>
          <a:prstGeom prst="rect">
            <a:avLst/>
          </a:prstGeom>
          <a:solidFill>
            <a:srgbClr val="EAD8CB"/>
          </a:solidFill>
          <a:ln w="12700">
            <a:solidFill>
              <a:srgbClr val="EAD8CB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07408" y="5494687"/>
            <a:ext cx="2484973" cy="220027"/>
          </a:xfrm>
          <a:prstGeom prst="rect">
            <a:avLst/>
          </a:prstGeom>
          <a:solidFill>
            <a:srgbClr val="A23A2A"/>
          </a:solidFill>
          <a:ln w="12700">
            <a:solidFill>
              <a:srgbClr val="A23A2A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50424" y="5402961"/>
            <a:ext cx="457200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A23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43%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56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| KEY USER INSIGHTS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E17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RedDust as supportive, optional, private and low-friction.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1612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want emotional support that fits real life, not a heavy daily obligation.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survey n=110  |  RedDust investor pitch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210544" y="64556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868680" y="1700784"/>
            <a:ext cx="713232" cy="713232"/>
          </a:xfrm>
          <a:prstGeom prst="ellipse">
            <a:avLst/>
          </a:prstGeom>
          <a:solidFill>
            <a:srgbClr val="FFF3EA"/>
          </a:solidFill>
          <a:ln>
            <a:solidFill>
              <a:srgbClr val="B6532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65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09928" y="179222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sessions under 10 minutes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3749040" y="1700784"/>
            <a:ext cx="713232" cy="713232"/>
          </a:xfrm>
          <a:prstGeom prst="ellipse">
            <a:avLst/>
          </a:prstGeom>
          <a:solidFill>
            <a:srgbClr val="FFF3EA"/>
          </a:solidFill>
          <a:ln>
            <a:solidFill>
              <a:srgbClr val="3E6B5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E6B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90288" y="179222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would use only during difficult periods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6812280" y="1700784"/>
            <a:ext cx="713232" cy="713232"/>
          </a:xfrm>
          <a:prstGeom prst="ellipse">
            <a:avLst/>
          </a:prstGeom>
          <a:solidFill>
            <a:srgbClr val="FFF3EA"/>
          </a:solidFill>
          <a:ln>
            <a:solidFill>
              <a:srgbClr val="C78A43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78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53528" y="179222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 occasional use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1078992" y="342900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65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Short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78992" y="38221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10 minutes is the default interaction window.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3685032" y="342900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23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85032" y="38221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is the #1 concern; control and transparency matter.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6291072" y="342900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6B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Adaptive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91072" y="38221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from preferences, then learn over time.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8897112" y="342900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5C7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Non-judgmental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897112" y="38221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need a safe mirror, not another authority figure.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2834640" y="5074920"/>
            <a:ext cx="6309360" cy="640080"/>
          </a:xfrm>
          <a:prstGeom prst="roundRect">
            <a:avLst>
              <a:gd name="adj" fmla="val 11429"/>
            </a:avLst>
          </a:prstGeom>
          <a:solidFill>
            <a:srgbClr val="FFF2EA"/>
          </a:solidFill>
          <a:ln w="12700">
            <a:solidFill>
              <a:srgbClr val="E8CABB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>
              <a:buNone/>
            </a:pPr>
            <a:r>
              <a:rPr lang="en-US" sz="1500" i="1" dirty="0">
                <a:solidFill>
                  <a:srgbClr val="7A34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“Where I can talk anything to everything without being judged.”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56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| TECHNOLOGY &amp; AI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E17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Soul Score: adaptive, explainable, non-clinical personalisation.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1612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differentiator is a private personalisation engine, not a diagnosis engine.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survey n=110  |  RedDust investor pitch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210544" y="64556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950976" y="2020824"/>
            <a:ext cx="18836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3E6B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 signals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950976" y="2935224"/>
            <a:ext cx="18836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Listening behaviour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950976" y="3849624"/>
            <a:ext cx="18836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385C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Wellbeing dimensions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4663440" y="2340864"/>
            <a:ext cx="2331720" cy="1600200"/>
          </a:xfrm>
          <a:prstGeom prst="ellipse">
            <a:avLst/>
          </a:prstGeom>
          <a:solidFill>
            <a:srgbClr val="7A341B"/>
          </a:solidFill>
          <a:ln>
            <a:solidFill>
              <a:srgbClr val="7A341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Soul Score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942832" y="2340864"/>
            <a:ext cx="19933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recommendations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942832" y="3118104"/>
            <a:ext cx="19933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E6B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 style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942832" y="3895344"/>
            <a:ext cx="19933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78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Reflection prompts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85032" y="5102352"/>
            <a:ext cx="1645920" cy="365760"/>
          </a:xfrm>
          <a:prstGeom prst="roundRect">
            <a:avLst>
              <a:gd name="adj" fmla="val 37500"/>
            </a:avLst>
          </a:prstGeom>
          <a:solidFill>
            <a:srgbClr val="FFF2EA"/>
          </a:solidFill>
          <a:ln>
            <a:solidFill>
              <a:srgbClr val="FFF2E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7A34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Explainable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5468112" y="5102352"/>
            <a:ext cx="1645920" cy="365760"/>
          </a:xfrm>
          <a:prstGeom prst="roundRect">
            <a:avLst>
              <a:gd name="adj" fmla="val 37500"/>
            </a:avLst>
          </a:prstGeom>
          <a:solidFill>
            <a:srgbClr val="FFF2EA"/>
          </a:solidFill>
          <a:ln>
            <a:solidFill>
              <a:srgbClr val="FFF2E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7A34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Non-clinical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251192" y="5102352"/>
            <a:ext cx="1645920" cy="365760"/>
          </a:xfrm>
          <a:prstGeom prst="roundRect">
            <a:avLst>
              <a:gd name="adj" fmla="val 37500"/>
            </a:avLst>
          </a:prstGeom>
          <a:solidFill>
            <a:srgbClr val="FFF2EA"/>
          </a:solidFill>
          <a:ln>
            <a:solidFill>
              <a:srgbClr val="FFF2E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7A34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User-controlled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2011680" y="580644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Guardrails: RedDust supports wellbeing between human moments — it does not replace therapy or emergency care.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56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| BUSINESS MODEL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E17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Freemium first; paid conversion later.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1612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 depends on lowering risk first, then earning willingness to pay through demonstrated value.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survey n=110  |  RedDust investor pitch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210544" y="64556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914400" y="1746504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A23A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57%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969264" y="2368296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free-only first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98064" y="1746504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3E6B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41%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852928" y="2368296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willing to pay something if valuable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81728" y="1746504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B65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&lt;$10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4736592" y="2368296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paid preference / month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589520" y="3886200"/>
            <a:ext cx="1097280" cy="502920"/>
          </a:xfrm>
          <a:prstGeom prst="trapezoid">
            <a:avLst/>
          </a:prstGeom>
          <a:solidFill>
            <a:srgbClr val="D8C7B8">
              <a:alpha val="90000"/>
            </a:srgbClr>
          </a:solidFill>
          <a:ln w="12700">
            <a:solidFill>
              <a:srgbClr val="D8C7B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4050792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9966960" y="401421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Onboarding, basic music mood support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223760" y="3246120"/>
            <a:ext cx="1828800" cy="502920"/>
          </a:xfrm>
          <a:prstGeom prst="trapezoid">
            <a:avLst/>
          </a:prstGeom>
          <a:solidFill>
            <a:srgbClr val="C78A43"/>
          </a:solidFill>
          <a:ln w="12700">
            <a:solidFill>
              <a:srgbClr val="C78A4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3410712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Plus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9966960" y="337413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Personalisation, reflections, history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858000" y="2606040"/>
            <a:ext cx="2560320" cy="502920"/>
          </a:xfrm>
          <a:prstGeom prst="trapezoid">
            <a:avLst/>
          </a:prstGeom>
          <a:solidFill>
            <a:srgbClr val="B6532A"/>
          </a:solidFill>
          <a:ln w="12700">
            <a:solidFill>
              <a:srgbClr val="B6532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2770632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9966960" y="273405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journeys and richer coaching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492240" y="1965960"/>
            <a:ext cx="3291840" cy="502920"/>
          </a:xfrm>
          <a:prstGeom prst="trapezoid">
            <a:avLst/>
          </a:prstGeom>
          <a:solidFill>
            <a:srgbClr val="3E6B54"/>
          </a:solidFill>
          <a:ln w="12700">
            <a:solidFill>
              <a:srgbClr val="3E6B5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2130552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 / Employer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9966960" y="209397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Cohort wellbeing programs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234440" y="5001768"/>
            <a:ext cx="4846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17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principle: earn trust before monetising emotional support.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97280" y="544068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2EA"/>
          </a:solidFill>
          <a:ln w="12700">
            <a:solidFill>
              <a:srgbClr val="F3D9C7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7A34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“I’d prefer if AI is free to use. But if the service is good, a few dollars is fine.”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56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| GO-TO-MARKET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E17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Beachhead: UNSW students and young professionals.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1612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through wellbeing communities, music-led engagement and campus partnerships.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288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survey n=110  |  RedDust investor pitch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1210544" y="64556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B65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042416" y="475488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34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UNSW beta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509320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with students; survey-backed discovery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3374136" y="4160520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653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Australian students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10712" y="4498848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clubs, societies, founder communities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5705856" y="3566160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6B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Young professionals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42432" y="3904488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productivity + wellbeing campaigns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8156448" y="2971800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78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Global diaspora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93024" y="3310128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68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music-led cultural connection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877824" y="16916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7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works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400" y="2130552"/>
            <a:ext cx="164592" cy="164592"/>
          </a:xfrm>
          <a:prstGeom prst="ellipse">
            <a:avLst/>
          </a:prstGeom>
          <a:solidFill>
            <a:srgbClr val="B6532A"/>
          </a:solidFill>
          <a:ln w="12700">
            <a:solidFill>
              <a:srgbClr val="B653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20848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fit is concentrated in students + early career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914400" y="2697480"/>
            <a:ext cx="164592" cy="164592"/>
          </a:xfrm>
          <a:prstGeom prst="ellipse">
            <a:avLst/>
          </a:prstGeom>
          <a:solidFill>
            <a:srgbClr val="B6532A"/>
          </a:solidFill>
          <a:ln w="12700">
            <a:solidFill>
              <a:srgbClr val="B653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26517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digitally comfortable users reduce onboarding friction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914400" y="3264408"/>
            <a:ext cx="164592" cy="164592"/>
          </a:xfrm>
          <a:prstGeom prst="ellipse">
            <a:avLst/>
          </a:prstGeom>
          <a:solidFill>
            <a:srgbClr val="B6532A"/>
          </a:solidFill>
          <a:ln w="12700">
            <a:solidFill>
              <a:srgbClr val="B653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321868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E17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gives a natural acquisition hook</a:t>
            </a:r>
            <a:endParaRPr lang="en-US" sz="10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7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4754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7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 / Ask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94944" y="96926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RedDust is not trying to replace people.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3232" y="153619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8E9D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 helps people feel understood between human support moments.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41248" y="2743200"/>
            <a:ext cx="4023360" cy="786384"/>
          </a:xfrm>
          <a:prstGeom prst="roundRect">
            <a:avLst>
              <a:gd name="adj" fmla="val 9302"/>
            </a:avLst>
          </a:prstGeom>
          <a:solidFill>
            <a:srgbClr val="2E211C"/>
          </a:solidFill>
          <a:ln w="12700">
            <a:solidFill>
              <a:srgbClr val="B6532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F8E9D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“Where I can open my heart and talk without any hesitation.”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193792" y="2743200"/>
            <a:ext cx="3611880" cy="786384"/>
          </a:xfrm>
          <a:prstGeom prst="roundRect">
            <a:avLst>
              <a:gd name="adj" fmla="val 9302"/>
            </a:avLst>
          </a:prstGeom>
          <a:solidFill>
            <a:srgbClr val="2E211C"/>
          </a:solidFill>
          <a:ln w="12700">
            <a:solidFill>
              <a:srgbClr val="B6532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F8E9D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“Information is still stored somewhere about me.”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425196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974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Ask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4636008"/>
            <a:ext cx="128016" cy="128016"/>
          </a:xfrm>
          <a:prstGeom prst="ellipse">
            <a:avLst/>
          </a:prstGeom>
          <a:solidFill>
            <a:srgbClr val="E97451"/>
          </a:solidFill>
          <a:ln w="12700">
            <a:solidFill>
              <a:srgbClr val="E974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456285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8E9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Mentor support for product + trust strategy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4400" y="5020056"/>
            <a:ext cx="128016" cy="128016"/>
          </a:xfrm>
          <a:prstGeom prst="ellipse">
            <a:avLst/>
          </a:prstGeom>
          <a:solidFill>
            <a:srgbClr val="E97451"/>
          </a:solidFill>
          <a:ln w="12700">
            <a:solidFill>
              <a:srgbClr val="E974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494690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8E9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UNSW beta users and campus pilots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" y="5404104"/>
            <a:ext cx="128016" cy="128016"/>
          </a:xfrm>
          <a:prstGeom prst="ellipse">
            <a:avLst/>
          </a:prstGeom>
          <a:solidFill>
            <a:srgbClr val="E97451"/>
          </a:solidFill>
          <a:ln w="12700">
            <a:solidFill>
              <a:srgbClr val="E974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533095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8E9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 intros to wellbeing / music communities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" y="570585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People don’t want another AI. They want to feel understood, supported, motivated and connected.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13232" y="61447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974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RedDust listens to the music that listens to your soul.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83112" y="64556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E974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1185</Words>
  <Application>Microsoft Office PowerPoint</Application>
  <PresentationFormat>Widescreen</PresentationFormat>
  <Paragraphs>281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Candara</vt:lpstr>
      <vt:lpstr>Webdings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RedDust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RedDust Investor Pitch</dc:title>
  <dc:subject>RedDust investor pitch based on HumanResponse.xlsx survey data</dc:subject>
  <dc:creator>RedDust / OpenAI</dc:creator>
  <cp:lastModifiedBy>User</cp:lastModifiedBy>
  <cp:revision>8</cp:revision>
  <dcterms:created xsi:type="dcterms:W3CDTF">2026-07-29T12:53:48Z</dcterms:created>
  <dcterms:modified xsi:type="dcterms:W3CDTF">2026-07-30T12:04:16Z</dcterms:modified>
</cp:coreProperties>
</file>