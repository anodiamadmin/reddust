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58" r:id="rId5"/>
    <p:sldId id="268" r:id="rId6"/>
    <p:sldId id="269" r:id="rId7"/>
    <p:sldId id="270" r:id="rId8"/>
    <p:sldId id="271" r:id="rId9"/>
    <p:sldId id="274" r:id="rId10"/>
    <p:sldId id="27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6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0807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837508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64694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10230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6107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50278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3957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39845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19122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7164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5160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9520DA-D6CB-4886-BF15-E8B36DC69742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7A5E6B-A6FC-43CF-8087-23AACC7CC4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97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560284" y="156387"/>
            <a:ext cx="535577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b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radio that listens to your soul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541563" y="306649"/>
            <a:ext cx="842477" cy="842477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34" t="12434" r="12434" b="12434"/>
          <a:stretch>
            <a:fillRect/>
          </a:stretch>
        </p:blipFill>
        <p:spPr>
          <a:xfrm>
            <a:off x="11052839" y="5903898"/>
            <a:ext cx="696262" cy="696262"/>
          </a:xfrm>
          <a:custGeom>
            <a:avLst/>
            <a:gdLst>
              <a:gd name="connsiteX0" fmla="*/ 1166117 w 5152516"/>
              <a:gd name="connsiteY0" fmla="*/ 0 h 5152516"/>
              <a:gd name="connsiteX1" fmla="*/ 3986399 w 5152516"/>
              <a:gd name="connsiteY1" fmla="*/ 0 h 5152516"/>
              <a:gd name="connsiteX2" fmla="*/ 5152516 w 5152516"/>
              <a:gd name="connsiteY2" fmla="*/ 1166117 h 5152516"/>
              <a:gd name="connsiteX3" fmla="*/ 5152516 w 5152516"/>
              <a:gd name="connsiteY3" fmla="*/ 3986399 h 5152516"/>
              <a:gd name="connsiteX4" fmla="*/ 3986399 w 5152516"/>
              <a:gd name="connsiteY4" fmla="*/ 5152516 h 5152516"/>
              <a:gd name="connsiteX5" fmla="*/ 1166117 w 5152516"/>
              <a:gd name="connsiteY5" fmla="*/ 5152516 h 5152516"/>
              <a:gd name="connsiteX6" fmla="*/ 0 w 5152516"/>
              <a:gd name="connsiteY6" fmla="*/ 3986399 h 5152516"/>
              <a:gd name="connsiteX7" fmla="*/ 0 w 5152516"/>
              <a:gd name="connsiteY7" fmla="*/ 1166117 h 5152516"/>
              <a:gd name="connsiteX8" fmla="*/ 1166117 w 5152516"/>
              <a:gd name="connsiteY8" fmla="*/ 0 h 5152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52516" h="5152516">
                <a:moveTo>
                  <a:pt x="1166117" y="0"/>
                </a:moveTo>
                <a:lnTo>
                  <a:pt x="3986399" y="0"/>
                </a:lnTo>
                <a:cubicBezTo>
                  <a:pt x="4630428" y="0"/>
                  <a:pt x="5152516" y="522088"/>
                  <a:pt x="5152516" y="1166117"/>
                </a:cubicBezTo>
                <a:lnTo>
                  <a:pt x="5152516" y="3986399"/>
                </a:lnTo>
                <a:cubicBezTo>
                  <a:pt x="5152516" y="4630428"/>
                  <a:pt x="4630428" y="5152516"/>
                  <a:pt x="3986399" y="5152516"/>
                </a:cubicBezTo>
                <a:lnTo>
                  <a:pt x="1166117" y="5152516"/>
                </a:lnTo>
                <a:cubicBezTo>
                  <a:pt x="522088" y="5152516"/>
                  <a:pt x="0" y="4630428"/>
                  <a:pt x="0" y="3986399"/>
                </a:cubicBezTo>
                <a:lnTo>
                  <a:pt x="0" y="1166117"/>
                </a:lnTo>
                <a:cubicBezTo>
                  <a:pt x="0" y="522088"/>
                  <a:pt x="522088" y="0"/>
                  <a:pt x="1166117" y="0"/>
                </a:cubicBezTo>
                <a:close/>
              </a:path>
            </a:pathLst>
          </a:custGeom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9100454" y="6217814"/>
            <a:ext cx="2394859" cy="3823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Powered by Syan Bot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0" y="1175074"/>
            <a:ext cx="12191999" cy="1884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300000"/>
              </a:lnSpc>
            </a:pPr>
            <a:r>
              <a:rPr lang="en-US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AI Based RJ and Wellbeing Companion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Helping people improve wellbeing, focus, resilience and motivation through personalized music and interaction</a:t>
            </a:r>
            <a:endParaRPr lang="en-A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2946395" y="3306329"/>
            <a:ext cx="2947291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UNSW Founders’ Members: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Anirban Chakrabarty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Tanvi Multani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865255" y="3322744"/>
            <a:ext cx="2947291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Anodiam Members: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Sayan Basak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Soubhanik Patra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Nathan Young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Mannat Gupta</a:t>
            </a:r>
          </a:p>
        </p:txBody>
      </p:sp>
    </p:spTree>
    <p:extLst>
      <p:ext uri="{BB962C8B-B14F-4D97-AF65-F5344CB8AC3E}">
        <p14:creationId xmlns:p14="http://schemas.microsoft.com/office/powerpoint/2010/main" val="155870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560284" y="156387"/>
            <a:ext cx="535577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b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radio that listens to your soul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541563" y="306649"/>
            <a:ext cx="842477" cy="842477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34" t="12434" r="12434" b="12434"/>
          <a:stretch>
            <a:fillRect/>
          </a:stretch>
        </p:blipFill>
        <p:spPr>
          <a:xfrm>
            <a:off x="11052839" y="5903898"/>
            <a:ext cx="696262" cy="696262"/>
          </a:xfrm>
          <a:custGeom>
            <a:avLst/>
            <a:gdLst>
              <a:gd name="connsiteX0" fmla="*/ 1166117 w 5152516"/>
              <a:gd name="connsiteY0" fmla="*/ 0 h 5152516"/>
              <a:gd name="connsiteX1" fmla="*/ 3986399 w 5152516"/>
              <a:gd name="connsiteY1" fmla="*/ 0 h 5152516"/>
              <a:gd name="connsiteX2" fmla="*/ 5152516 w 5152516"/>
              <a:gd name="connsiteY2" fmla="*/ 1166117 h 5152516"/>
              <a:gd name="connsiteX3" fmla="*/ 5152516 w 5152516"/>
              <a:gd name="connsiteY3" fmla="*/ 3986399 h 5152516"/>
              <a:gd name="connsiteX4" fmla="*/ 3986399 w 5152516"/>
              <a:gd name="connsiteY4" fmla="*/ 5152516 h 5152516"/>
              <a:gd name="connsiteX5" fmla="*/ 1166117 w 5152516"/>
              <a:gd name="connsiteY5" fmla="*/ 5152516 h 5152516"/>
              <a:gd name="connsiteX6" fmla="*/ 0 w 5152516"/>
              <a:gd name="connsiteY6" fmla="*/ 3986399 h 5152516"/>
              <a:gd name="connsiteX7" fmla="*/ 0 w 5152516"/>
              <a:gd name="connsiteY7" fmla="*/ 1166117 h 5152516"/>
              <a:gd name="connsiteX8" fmla="*/ 1166117 w 5152516"/>
              <a:gd name="connsiteY8" fmla="*/ 0 h 5152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52516" h="5152516">
                <a:moveTo>
                  <a:pt x="1166117" y="0"/>
                </a:moveTo>
                <a:lnTo>
                  <a:pt x="3986399" y="0"/>
                </a:lnTo>
                <a:cubicBezTo>
                  <a:pt x="4630428" y="0"/>
                  <a:pt x="5152516" y="522088"/>
                  <a:pt x="5152516" y="1166117"/>
                </a:cubicBezTo>
                <a:lnTo>
                  <a:pt x="5152516" y="3986399"/>
                </a:lnTo>
                <a:cubicBezTo>
                  <a:pt x="5152516" y="4630428"/>
                  <a:pt x="4630428" y="5152516"/>
                  <a:pt x="3986399" y="5152516"/>
                </a:cubicBezTo>
                <a:lnTo>
                  <a:pt x="1166117" y="5152516"/>
                </a:lnTo>
                <a:cubicBezTo>
                  <a:pt x="522088" y="5152516"/>
                  <a:pt x="0" y="4630428"/>
                  <a:pt x="0" y="3986399"/>
                </a:cubicBezTo>
                <a:lnTo>
                  <a:pt x="0" y="1166117"/>
                </a:lnTo>
                <a:cubicBezTo>
                  <a:pt x="0" y="522088"/>
                  <a:pt x="522088" y="0"/>
                  <a:pt x="1166117" y="0"/>
                </a:cubicBezTo>
                <a:close/>
              </a:path>
            </a:pathLst>
          </a:custGeom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9100454" y="6217814"/>
            <a:ext cx="2394859" cy="3823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Powered by Syan Bot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755308" y="2112546"/>
            <a:ext cx="5232400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People increasingly struggle </a:t>
            </a:r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with: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Stress and anxiety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Loneliness and social isolation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Lack of motivation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Poor focus and productivity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Digital overload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" y="1371959"/>
            <a:ext cx="12192000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>
              <a:lnSpc>
                <a:spcPct val="150000"/>
              </a:lnSpc>
            </a:pPr>
            <a:r>
              <a:rPr lang="en-US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Problem – Modern Life is Breaking Human Wellbeing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3601" y="3654472"/>
            <a:ext cx="4461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Existing </a:t>
            </a:r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solutions are fragmented: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Music apps play songs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Wellness apps track wellbeing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AI assistants answer </a:t>
            </a: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questions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5623184"/>
            <a:ext cx="121919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None combine </a:t>
            </a: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AI driven, </a:t>
            </a:r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personalized wellbeing </a:t>
            </a: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with </a:t>
            </a:r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music-based intervention.</a:t>
            </a:r>
            <a:endParaRPr lang="en-AU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5990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560284" y="156387"/>
            <a:ext cx="535577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b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radio that listens to your soul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541563" y="306649"/>
            <a:ext cx="842477" cy="842477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34" t="12434" r="12434" b="12434"/>
          <a:stretch>
            <a:fillRect/>
          </a:stretch>
        </p:blipFill>
        <p:spPr>
          <a:xfrm>
            <a:off x="11052839" y="5903898"/>
            <a:ext cx="696262" cy="696262"/>
          </a:xfrm>
          <a:custGeom>
            <a:avLst/>
            <a:gdLst>
              <a:gd name="connsiteX0" fmla="*/ 1166117 w 5152516"/>
              <a:gd name="connsiteY0" fmla="*/ 0 h 5152516"/>
              <a:gd name="connsiteX1" fmla="*/ 3986399 w 5152516"/>
              <a:gd name="connsiteY1" fmla="*/ 0 h 5152516"/>
              <a:gd name="connsiteX2" fmla="*/ 5152516 w 5152516"/>
              <a:gd name="connsiteY2" fmla="*/ 1166117 h 5152516"/>
              <a:gd name="connsiteX3" fmla="*/ 5152516 w 5152516"/>
              <a:gd name="connsiteY3" fmla="*/ 3986399 h 5152516"/>
              <a:gd name="connsiteX4" fmla="*/ 3986399 w 5152516"/>
              <a:gd name="connsiteY4" fmla="*/ 5152516 h 5152516"/>
              <a:gd name="connsiteX5" fmla="*/ 1166117 w 5152516"/>
              <a:gd name="connsiteY5" fmla="*/ 5152516 h 5152516"/>
              <a:gd name="connsiteX6" fmla="*/ 0 w 5152516"/>
              <a:gd name="connsiteY6" fmla="*/ 3986399 h 5152516"/>
              <a:gd name="connsiteX7" fmla="*/ 0 w 5152516"/>
              <a:gd name="connsiteY7" fmla="*/ 1166117 h 5152516"/>
              <a:gd name="connsiteX8" fmla="*/ 1166117 w 5152516"/>
              <a:gd name="connsiteY8" fmla="*/ 0 h 5152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52516" h="5152516">
                <a:moveTo>
                  <a:pt x="1166117" y="0"/>
                </a:moveTo>
                <a:lnTo>
                  <a:pt x="3986399" y="0"/>
                </a:lnTo>
                <a:cubicBezTo>
                  <a:pt x="4630428" y="0"/>
                  <a:pt x="5152516" y="522088"/>
                  <a:pt x="5152516" y="1166117"/>
                </a:cubicBezTo>
                <a:lnTo>
                  <a:pt x="5152516" y="3986399"/>
                </a:lnTo>
                <a:cubicBezTo>
                  <a:pt x="5152516" y="4630428"/>
                  <a:pt x="4630428" y="5152516"/>
                  <a:pt x="3986399" y="5152516"/>
                </a:cubicBezTo>
                <a:lnTo>
                  <a:pt x="1166117" y="5152516"/>
                </a:lnTo>
                <a:cubicBezTo>
                  <a:pt x="522088" y="5152516"/>
                  <a:pt x="0" y="4630428"/>
                  <a:pt x="0" y="3986399"/>
                </a:cubicBezTo>
                <a:lnTo>
                  <a:pt x="0" y="1166117"/>
                </a:lnTo>
                <a:cubicBezTo>
                  <a:pt x="0" y="522088"/>
                  <a:pt x="522088" y="0"/>
                  <a:pt x="1166117" y="0"/>
                </a:cubicBezTo>
                <a:close/>
              </a:path>
            </a:pathLst>
          </a:custGeom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9100454" y="6217814"/>
            <a:ext cx="2394859" cy="3823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Powered by Syan Bot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929477" y="2295464"/>
            <a:ext cx="4008349" cy="1985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It combines: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Conversational AI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Behavioral </a:t>
            </a: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science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Personalized </a:t>
            </a: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music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Mood and wellbeing </a:t>
            </a: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tracking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" y="1350187"/>
            <a:ext cx="12192000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>
              <a:lnSpc>
                <a:spcPct val="150000"/>
              </a:lnSpc>
            </a:pPr>
            <a:r>
              <a:rPr lang="en-AU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Solution – </a:t>
            </a:r>
            <a:r>
              <a:rPr lang="en-US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RedDust: </a:t>
            </a:r>
            <a:r>
              <a:rPr lang="en-US" sz="2400" dirty="0">
                <a:solidFill>
                  <a:srgbClr val="FFFFEB"/>
                </a:solidFill>
                <a:latin typeface="Candara" panose="020E0502030303020204" pitchFamily="34" charset="0"/>
              </a:rPr>
              <a:t>AI Radio Jockey </a:t>
            </a:r>
            <a:r>
              <a:rPr lang="en-US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and Wellbeing Companion</a:t>
            </a:r>
            <a:endParaRPr lang="en-US" sz="24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272855" y="2287961"/>
            <a:ext cx="3235487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 understands: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Your mood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Current situation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Goals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Preferences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Listening history</a:t>
            </a: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5122446"/>
            <a:ext cx="121919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And creates personalized experiences that guide you through your day.</a:t>
            </a:r>
          </a:p>
        </p:txBody>
      </p:sp>
    </p:spTree>
    <p:extLst>
      <p:ext uri="{BB962C8B-B14F-4D97-AF65-F5344CB8AC3E}">
        <p14:creationId xmlns:p14="http://schemas.microsoft.com/office/powerpoint/2010/main" val="3392717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560284" y="156387"/>
            <a:ext cx="535577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b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radio that listens to your soul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541563" y="306649"/>
            <a:ext cx="842477" cy="842477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34" t="12434" r="12434" b="12434"/>
          <a:stretch>
            <a:fillRect/>
          </a:stretch>
        </p:blipFill>
        <p:spPr>
          <a:xfrm>
            <a:off x="11052839" y="5903898"/>
            <a:ext cx="696262" cy="696262"/>
          </a:xfrm>
          <a:custGeom>
            <a:avLst/>
            <a:gdLst>
              <a:gd name="connsiteX0" fmla="*/ 1166117 w 5152516"/>
              <a:gd name="connsiteY0" fmla="*/ 0 h 5152516"/>
              <a:gd name="connsiteX1" fmla="*/ 3986399 w 5152516"/>
              <a:gd name="connsiteY1" fmla="*/ 0 h 5152516"/>
              <a:gd name="connsiteX2" fmla="*/ 5152516 w 5152516"/>
              <a:gd name="connsiteY2" fmla="*/ 1166117 h 5152516"/>
              <a:gd name="connsiteX3" fmla="*/ 5152516 w 5152516"/>
              <a:gd name="connsiteY3" fmla="*/ 3986399 h 5152516"/>
              <a:gd name="connsiteX4" fmla="*/ 3986399 w 5152516"/>
              <a:gd name="connsiteY4" fmla="*/ 5152516 h 5152516"/>
              <a:gd name="connsiteX5" fmla="*/ 1166117 w 5152516"/>
              <a:gd name="connsiteY5" fmla="*/ 5152516 h 5152516"/>
              <a:gd name="connsiteX6" fmla="*/ 0 w 5152516"/>
              <a:gd name="connsiteY6" fmla="*/ 3986399 h 5152516"/>
              <a:gd name="connsiteX7" fmla="*/ 0 w 5152516"/>
              <a:gd name="connsiteY7" fmla="*/ 1166117 h 5152516"/>
              <a:gd name="connsiteX8" fmla="*/ 1166117 w 5152516"/>
              <a:gd name="connsiteY8" fmla="*/ 0 h 5152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52516" h="5152516">
                <a:moveTo>
                  <a:pt x="1166117" y="0"/>
                </a:moveTo>
                <a:lnTo>
                  <a:pt x="3986399" y="0"/>
                </a:lnTo>
                <a:cubicBezTo>
                  <a:pt x="4630428" y="0"/>
                  <a:pt x="5152516" y="522088"/>
                  <a:pt x="5152516" y="1166117"/>
                </a:cubicBezTo>
                <a:lnTo>
                  <a:pt x="5152516" y="3986399"/>
                </a:lnTo>
                <a:cubicBezTo>
                  <a:pt x="5152516" y="4630428"/>
                  <a:pt x="4630428" y="5152516"/>
                  <a:pt x="3986399" y="5152516"/>
                </a:cubicBezTo>
                <a:lnTo>
                  <a:pt x="1166117" y="5152516"/>
                </a:lnTo>
                <a:cubicBezTo>
                  <a:pt x="522088" y="5152516"/>
                  <a:pt x="0" y="4630428"/>
                  <a:pt x="0" y="3986399"/>
                </a:cubicBezTo>
                <a:lnTo>
                  <a:pt x="0" y="1166117"/>
                </a:lnTo>
                <a:cubicBezTo>
                  <a:pt x="0" y="522088"/>
                  <a:pt x="522088" y="0"/>
                  <a:pt x="1166117" y="0"/>
                </a:cubicBezTo>
                <a:close/>
              </a:path>
            </a:pathLst>
          </a:custGeom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9100454" y="6217814"/>
            <a:ext cx="2394859" cy="3823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Powered by Syan Bot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0" y="1022670"/>
            <a:ext cx="12191999" cy="866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en-US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Product Experience – A Day with RedDust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4389" y="2234033"/>
            <a:ext cx="308669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Morning:</a:t>
            </a:r>
          </a:p>
          <a:p>
            <a:pPr lvl="1">
              <a:lnSpc>
                <a:spcPct val="150000"/>
              </a:lnSpc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“Help me focus for work."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 Creates: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Focus playlist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Productivity guidance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Motivational </a:t>
            </a: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check-in</a:t>
            </a: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5347414"/>
            <a:ext cx="121919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Outcome</a:t>
            </a: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: Improved </a:t>
            </a:r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mood, resilience and wellbeing throughout the </a:t>
            </a: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2743" y="2301241"/>
            <a:ext cx="372835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Afternoon:</a:t>
            </a:r>
          </a:p>
          <a:p>
            <a:pPr lvl="1">
              <a:lnSpc>
                <a:spcPct val="150000"/>
              </a:lnSpc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“I am feeling stressed."</a:t>
            </a:r>
            <a:endParaRPr lang="en-US" sz="16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 Creates: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Stress recovery music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Guided reflection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Emotional support conversation</a:t>
            </a: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21099" y="2363321"/>
            <a:ext cx="340964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Evening:</a:t>
            </a:r>
          </a:p>
          <a:p>
            <a:pPr lvl="1">
              <a:lnSpc>
                <a:spcPct val="150000"/>
              </a:lnSpc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“I want to </a:t>
            </a: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relax."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 Creates: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Relaxation journey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Personal radio experience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Sleep preparation playlist</a:t>
            </a: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0247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560284" y="156387"/>
            <a:ext cx="535577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b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radio that listens to your soul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541563" y="306649"/>
            <a:ext cx="842477" cy="842477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34" t="12434" r="12434" b="12434"/>
          <a:stretch>
            <a:fillRect/>
          </a:stretch>
        </p:blipFill>
        <p:spPr>
          <a:xfrm>
            <a:off x="11052839" y="5903898"/>
            <a:ext cx="696262" cy="696262"/>
          </a:xfrm>
          <a:custGeom>
            <a:avLst/>
            <a:gdLst>
              <a:gd name="connsiteX0" fmla="*/ 1166117 w 5152516"/>
              <a:gd name="connsiteY0" fmla="*/ 0 h 5152516"/>
              <a:gd name="connsiteX1" fmla="*/ 3986399 w 5152516"/>
              <a:gd name="connsiteY1" fmla="*/ 0 h 5152516"/>
              <a:gd name="connsiteX2" fmla="*/ 5152516 w 5152516"/>
              <a:gd name="connsiteY2" fmla="*/ 1166117 h 5152516"/>
              <a:gd name="connsiteX3" fmla="*/ 5152516 w 5152516"/>
              <a:gd name="connsiteY3" fmla="*/ 3986399 h 5152516"/>
              <a:gd name="connsiteX4" fmla="*/ 3986399 w 5152516"/>
              <a:gd name="connsiteY4" fmla="*/ 5152516 h 5152516"/>
              <a:gd name="connsiteX5" fmla="*/ 1166117 w 5152516"/>
              <a:gd name="connsiteY5" fmla="*/ 5152516 h 5152516"/>
              <a:gd name="connsiteX6" fmla="*/ 0 w 5152516"/>
              <a:gd name="connsiteY6" fmla="*/ 3986399 h 5152516"/>
              <a:gd name="connsiteX7" fmla="*/ 0 w 5152516"/>
              <a:gd name="connsiteY7" fmla="*/ 1166117 h 5152516"/>
              <a:gd name="connsiteX8" fmla="*/ 1166117 w 5152516"/>
              <a:gd name="connsiteY8" fmla="*/ 0 h 5152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52516" h="5152516">
                <a:moveTo>
                  <a:pt x="1166117" y="0"/>
                </a:moveTo>
                <a:lnTo>
                  <a:pt x="3986399" y="0"/>
                </a:lnTo>
                <a:cubicBezTo>
                  <a:pt x="4630428" y="0"/>
                  <a:pt x="5152516" y="522088"/>
                  <a:pt x="5152516" y="1166117"/>
                </a:cubicBezTo>
                <a:lnTo>
                  <a:pt x="5152516" y="3986399"/>
                </a:lnTo>
                <a:cubicBezTo>
                  <a:pt x="5152516" y="4630428"/>
                  <a:pt x="4630428" y="5152516"/>
                  <a:pt x="3986399" y="5152516"/>
                </a:cubicBezTo>
                <a:lnTo>
                  <a:pt x="1166117" y="5152516"/>
                </a:lnTo>
                <a:cubicBezTo>
                  <a:pt x="522088" y="5152516"/>
                  <a:pt x="0" y="4630428"/>
                  <a:pt x="0" y="3986399"/>
                </a:cubicBezTo>
                <a:lnTo>
                  <a:pt x="0" y="1166117"/>
                </a:lnTo>
                <a:cubicBezTo>
                  <a:pt x="0" y="522088"/>
                  <a:pt x="522088" y="0"/>
                  <a:pt x="1166117" y="0"/>
                </a:cubicBezTo>
                <a:close/>
              </a:path>
            </a:pathLst>
          </a:custGeom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9100454" y="6217814"/>
            <a:ext cx="2394859" cy="3823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Powered by Syan Bot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0" y="1153297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Why We 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97987" y="1700377"/>
            <a:ext cx="7717176" cy="4385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Unlike music streaming platforms, RedDust is not just recommending songs.</a:t>
            </a:r>
          </a:p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 delivers: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AI-generated radio experiences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Mood-aware playlists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Personal wellbeing guidance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Family-friendly and child-safe modes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Mental health trend monitoring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Voice-based interaction</a:t>
            </a:r>
          </a:p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Music becomes a wellbeing intervention, not merely entertainment.</a:t>
            </a: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0218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560284" y="156387"/>
            <a:ext cx="535577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b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radio that listens to your soul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541563" y="306649"/>
            <a:ext cx="842477" cy="842477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34" t="12434" r="12434" b="12434"/>
          <a:stretch>
            <a:fillRect/>
          </a:stretch>
        </p:blipFill>
        <p:spPr>
          <a:xfrm>
            <a:off x="11052839" y="5903898"/>
            <a:ext cx="696262" cy="696262"/>
          </a:xfrm>
          <a:custGeom>
            <a:avLst/>
            <a:gdLst>
              <a:gd name="connsiteX0" fmla="*/ 1166117 w 5152516"/>
              <a:gd name="connsiteY0" fmla="*/ 0 h 5152516"/>
              <a:gd name="connsiteX1" fmla="*/ 3986399 w 5152516"/>
              <a:gd name="connsiteY1" fmla="*/ 0 h 5152516"/>
              <a:gd name="connsiteX2" fmla="*/ 5152516 w 5152516"/>
              <a:gd name="connsiteY2" fmla="*/ 1166117 h 5152516"/>
              <a:gd name="connsiteX3" fmla="*/ 5152516 w 5152516"/>
              <a:gd name="connsiteY3" fmla="*/ 3986399 h 5152516"/>
              <a:gd name="connsiteX4" fmla="*/ 3986399 w 5152516"/>
              <a:gd name="connsiteY4" fmla="*/ 5152516 h 5152516"/>
              <a:gd name="connsiteX5" fmla="*/ 1166117 w 5152516"/>
              <a:gd name="connsiteY5" fmla="*/ 5152516 h 5152516"/>
              <a:gd name="connsiteX6" fmla="*/ 0 w 5152516"/>
              <a:gd name="connsiteY6" fmla="*/ 3986399 h 5152516"/>
              <a:gd name="connsiteX7" fmla="*/ 0 w 5152516"/>
              <a:gd name="connsiteY7" fmla="*/ 1166117 h 5152516"/>
              <a:gd name="connsiteX8" fmla="*/ 1166117 w 5152516"/>
              <a:gd name="connsiteY8" fmla="*/ 0 h 5152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52516" h="5152516">
                <a:moveTo>
                  <a:pt x="1166117" y="0"/>
                </a:moveTo>
                <a:lnTo>
                  <a:pt x="3986399" y="0"/>
                </a:lnTo>
                <a:cubicBezTo>
                  <a:pt x="4630428" y="0"/>
                  <a:pt x="5152516" y="522088"/>
                  <a:pt x="5152516" y="1166117"/>
                </a:cubicBezTo>
                <a:lnTo>
                  <a:pt x="5152516" y="3986399"/>
                </a:lnTo>
                <a:cubicBezTo>
                  <a:pt x="5152516" y="4630428"/>
                  <a:pt x="4630428" y="5152516"/>
                  <a:pt x="3986399" y="5152516"/>
                </a:cubicBezTo>
                <a:lnTo>
                  <a:pt x="1166117" y="5152516"/>
                </a:lnTo>
                <a:cubicBezTo>
                  <a:pt x="522088" y="5152516"/>
                  <a:pt x="0" y="4630428"/>
                  <a:pt x="0" y="3986399"/>
                </a:cubicBezTo>
                <a:lnTo>
                  <a:pt x="0" y="1166117"/>
                </a:lnTo>
                <a:cubicBezTo>
                  <a:pt x="0" y="522088"/>
                  <a:pt x="522088" y="0"/>
                  <a:pt x="1166117" y="0"/>
                </a:cubicBezTo>
                <a:close/>
              </a:path>
            </a:pathLst>
          </a:custGeom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9100454" y="6217814"/>
            <a:ext cx="2394859" cy="3823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Powered by Syan Bot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0" y="1392781"/>
            <a:ext cx="1219199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Market Opportunity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58" y="5216753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Combined TAM exceeds tens of billions of dollars globally</a:t>
            </a: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801810" y="2131166"/>
            <a:ext cx="2947291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Global Trends: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Digital </a:t>
            </a: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wellbeing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AI companions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Mental health technology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Personalized content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733353" y="2131166"/>
            <a:ext cx="2947291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Initial Markets: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Students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Working professionals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Parents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Retirees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267581" y="2096084"/>
            <a:ext cx="2947291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Expansion Markets: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Schools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Universities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Corporate wellbeing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Healthcare and aged care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2924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560284" y="156387"/>
            <a:ext cx="535577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b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radio that listens to your soul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541563" y="306649"/>
            <a:ext cx="842477" cy="842477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34" t="12434" r="12434" b="12434"/>
          <a:stretch>
            <a:fillRect/>
          </a:stretch>
        </p:blipFill>
        <p:spPr>
          <a:xfrm>
            <a:off x="11052839" y="5903898"/>
            <a:ext cx="696262" cy="696262"/>
          </a:xfrm>
          <a:custGeom>
            <a:avLst/>
            <a:gdLst>
              <a:gd name="connsiteX0" fmla="*/ 1166117 w 5152516"/>
              <a:gd name="connsiteY0" fmla="*/ 0 h 5152516"/>
              <a:gd name="connsiteX1" fmla="*/ 3986399 w 5152516"/>
              <a:gd name="connsiteY1" fmla="*/ 0 h 5152516"/>
              <a:gd name="connsiteX2" fmla="*/ 5152516 w 5152516"/>
              <a:gd name="connsiteY2" fmla="*/ 1166117 h 5152516"/>
              <a:gd name="connsiteX3" fmla="*/ 5152516 w 5152516"/>
              <a:gd name="connsiteY3" fmla="*/ 3986399 h 5152516"/>
              <a:gd name="connsiteX4" fmla="*/ 3986399 w 5152516"/>
              <a:gd name="connsiteY4" fmla="*/ 5152516 h 5152516"/>
              <a:gd name="connsiteX5" fmla="*/ 1166117 w 5152516"/>
              <a:gd name="connsiteY5" fmla="*/ 5152516 h 5152516"/>
              <a:gd name="connsiteX6" fmla="*/ 0 w 5152516"/>
              <a:gd name="connsiteY6" fmla="*/ 3986399 h 5152516"/>
              <a:gd name="connsiteX7" fmla="*/ 0 w 5152516"/>
              <a:gd name="connsiteY7" fmla="*/ 1166117 h 5152516"/>
              <a:gd name="connsiteX8" fmla="*/ 1166117 w 5152516"/>
              <a:gd name="connsiteY8" fmla="*/ 0 h 5152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52516" h="5152516">
                <a:moveTo>
                  <a:pt x="1166117" y="0"/>
                </a:moveTo>
                <a:lnTo>
                  <a:pt x="3986399" y="0"/>
                </a:lnTo>
                <a:cubicBezTo>
                  <a:pt x="4630428" y="0"/>
                  <a:pt x="5152516" y="522088"/>
                  <a:pt x="5152516" y="1166117"/>
                </a:cubicBezTo>
                <a:lnTo>
                  <a:pt x="5152516" y="3986399"/>
                </a:lnTo>
                <a:cubicBezTo>
                  <a:pt x="5152516" y="4630428"/>
                  <a:pt x="4630428" y="5152516"/>
                  <a:pt x="3986399" y="5152516"/>
                </a:cubicBezTo>
                <a:lnTo>
                  <a:pt x="1166117" y="5152516"/>
                </a:lnTo>
                <a:cubicBezTo>
                  <a:pt x="522088" y="5152516"/>
                  <a:pt x="0" y="4630428"/>
                  <a:pt x="0" y="3986399"/>
                </a:cubicBezTo>
                <a:lnTo>
                  <a:pt x="0" y="1166117"/>
                </a:lnTo>
                <a:cubicBezTo>
                  <a:pt x="0" y="522088"/>
                  <a:pt x="522088" y="0"/>
                  <a:pt x="1166117" y="0"/>
                </a:cubicBezTo>
                <a:close/>
              </a:path>
            </a:pathLst>
          </a:custGeom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9100454" y="6217814"/>
            <a:ext cx="2394859" cy="3823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Powered by Syan Bot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0" y="1153294"/>
            <a:ext cx="1219199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Core Technology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5927" y="3415676"/>
            <a:ext cx="2947291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Wellbeing Layer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Wellbeing scoring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Behavioral insights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Progress tracking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Personalized interventions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83294" y="1608194"/>
            <a:ext cx="2947291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AI </a:t>
            </a:r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Layer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Large Language Models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Personalization Engine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Mood Detection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Recommendation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581" y="2458937"/>
            <a:ext cx="2947291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Music Layer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Streaming integrations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Playlist generation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Smart ranking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Child-safe filtering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729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560284" y="156387"/>
            <a:ext cx="535577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b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radio that listens to your soul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541563" y="306649"/>
            <a:ext cx="842477" cy="842477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34" t="12434" r="12434" b="12434"/>
          <a:stretch>
            <a:fillRect/>
          </a:stretch>
        </p:blipFill>
        <p:spPr>
          <a:xfrm>
            <a:off x="11052839" y="5903898"/>
            <a:ext cx="696262" cy="696262"/>
          </a:xfrm>
          <a:custGeom>
            <a:avLst/>
            <a:gdLst>
              <a:gd name="connsiteX0" fmla="*/ 1166117 w 5152516"/>
              <a:gd name="connsiteY0" fmla="*/ 0 h 5152516"/>
              <a:gd name="connsiteX1" fmla="*/ 3986399 w 5152516"/>
              <a:gd name="connsiteY1" fmla="*/ 0 h 5152516"/>
              <a:gd name="connsiteX2" fmla="*/ 5152516 w 5152516"/>
              <a:gd name="connsiteY2" fmla="*/ 1166117 h 5152516"/>
              <a:gd name="connsiteX3" fmla="*/ 5152516 w 5152516"/>
              <a:gd name="connsiteY3" fmla="*/ 3986399 h 5152516"/>
              <a:gd name="connsiteX4" fmla="*/ 3986399 w 5152516"/>
              <a:gd name="connsiteY4" fmla="*/ 5152516 h 5152516"/>
              <a:gd name="connsiteX5" fmla="*/ 1166117 w 5152516"/>
              <a:gd name="connsiteY5" fmla="*/ 5152516 h 5152516"/>
              <a:gd name="connsiteX6" fmla="*/ 0 w 5152516"/>
              <a:gd name="connsiteY6" fmla="*/ 3986399 h 5152516"/>
              <a:gd name="connsiteX7" fmla="*/ 0 w 5152516"/>
              <a:gd name="connsiteY7" fmla="*/ 1166117 h 5152516"/>
              <a:gd name="connsiteX8" fmla="*/ 1166117 w 5152516"/>
              <a:gd name="connsiteY8" fmla="*/ 0 h 5152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52516" h="5152516">
                <a:moveTo>
                  <a:pt x="1166117" y="0"/>
                </a:moveTo>
                <a:lnTo>
                  <a:pt x="3986399" y="0"/>
                </a:lnTo>
                <a:cubicBezTo>
                  <a:pt x="4630428" y="0"/>
                  <a:pt x="5152516" y="522088"/>
                  <a:pt x="5152516" y="1166117"/>
                </a:cubicBezTo>
                <a:lnTo>
                  <a:pt x="5152516" y="3986399"/>
                </a:lnTo>
                <a:cubicBezTo>
                  <a:pt x="5152516" y="4630428"/>
                  <a:pt x="4630428" y="5152516"/>
                  <a:pt x="3986399" y="5152516"/>
                </a:cubicBezTo>
                <a:lnTo>
                  <a:pt x="1166117" y="5152516"/>
                </a:lnTo>
                <a:cubicBezTo>
                  <a:pt x="522088" y="5152516"/>
                  <a:pt x="0" y="4630428"/>
                  <a:pt x="0" y="3986399"/>
                </a:cubicBezTo>
                <a:lnTo>
                  <a:pt x="0" y="1166117"/>
                </a:lnTo>
                <a:cubicBezTo>
                  <a:pt x="0" y="522088"/>
                  <a:pt x="522088" y="0"/>
                  <a:pt x="1166117" y="0"/>
                </a:cubicBezTo>
                <a:close/>
              </a:path>
            </a:pathLst>
          </a:custGeom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9100454" y="6217814"/>
            <a:ext cx="2394859" cy="3823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Powered by Syan Bot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0" y="1400038"/>
            <a:ext cx="12191999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Business Model</a:t>
            </a:r>
          </a:p>
          <a:p>
            <a:pPr algn="ctr"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Freemium Consumer Model</a:t>
            </a:r>
            <a:endParaRPr lang="en-US" sz="2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05869" y="2675446"/>
            <a:ext cx="3303102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Future Revenue: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Schools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Corporate wellbeing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Healthcare partnerships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Premium content partnerships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72097" y="2653675"/>
            <a:ext cx="2947291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Free: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Basic playlists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Limited AI interactions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91068" y="2640364"/>
            <a:ext cx="3912700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Subscription + Trial Version:</a:t>
            </a:r>
            <a:endParaRPr lang="en-US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Unlimited AI companion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Advanced wellbeing insights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Personal radio shows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Family accounts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Child-safe experiences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31234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560284" y="156387"/>
            <a:ext cx="535577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b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radio that listens to your soul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541563" y="306649"/>
            <a:ext cx="842477" cy="842477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34" t="12434" r="12434" b="12434"/>
          <a:stretch>
            <a:fillRect/>
          </a:stretch>
        </p:blipFill>
        <p:spPr>
          <a:xfrm>
            <a:off x="11052839" y="5903898"/>
            <a:ext cx="696262" cy="696262"/>
          </a:xfrm>
          <a:custGeom>
            <a:avLst/>
            <a:gdLst>
              <a:gd name="connsiteX0" fmla="*/ 1166117 w 5152516"/>
              <a:gd name="connsiteY0" fmla="*/ 0 h 5152516"/>
              <a:gd name="connsiteX1" fmla="*/ 3986399 w 5152516"/>
              <a:gd name="connsiteY1" fmla="*/ 0 h 5152516"/>
              <a:gd name="connsiteX2" fmla="*/ 5152516 w 5152516"/>
              <a:gd name="connsiteY2" fmla="*/ 1166117 h 5152516"/>
              <a:gd name="connsiteX3" fmla="*/ 5152516 w 5152516"/>
              <a:gd name="connsiteY3" fmla="*/ 3986399 h 5152516"/>
              <a:gd name="connsiteX4" fmla="*/ 3986399 w 5152516"/>
              <a:gd name="connsiteY4" fmla="*/ 5152516 h 5152516"/>
              <a:gd name="connsiteX5" fmla="*/ 1166117 w 5152516"/>
              <a:gd name="connsiteY5" fmla="*/ 5152516 h 5152516"/>
              <a:gd name="connsiteX6" fmla="*/ 0 w 5152516"/>
              <a:gd name="connsiteY6" fmla="*/ 3986399 h 5152516"/>
              <a:gd name="connsiteX7" fmla="*/ 0 w 5152516"/>
              <a:gd name="connsiteY7" fmla="*/ 1166117 h 5152516"/>
              <a:gd name="connsiteX8" fmla="*/ 1166117 w 5152516"/>
              <a:gd name="connsiteY8" fmla="*/ 0 h 5152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52516" h="5152516">
                <a:moveTo>
                  <a:pt x="1166117" y="0"/>
                </a:moveTo>
                <a:lnTo>
                  <a:pt x="3986399" y="0"/>
                </a:lnTo>
                <a:cubicBezTo>
                  <a:pt x="4630428" y="0"/>
                  <a:pt x="5152516" y="522088"/>
                  <a:pt x="5152516" y="1166117"/>
                </a:cubicBezTo>
                <a:lnTo>
                  <a:pt x="5152516" y="3986399"/>
                </a:lnTo>
                <a:cubicBezTo>
                  <a:pt x="5152516" y="4630428"/>
                  <a:pt x="4630428" y="5152516"/>
                  <a:pt x="3986399" y="5152516"/>
                </a:cubicBezTo>
                <a:lnTo>
                  <a:pt x="1166117" y="5152516"/>
                </a:lnTo>
                <a:cubicBezTo>
                  <a:pt x="522088" y="5152516"/>
                  <a:pt x="0" y="4630428"/>
                  <a:pt x="0" y="3986399"/>
                </a:cubicBezTo>
                <a:lnTo>
                  <a:pt x="0" y="1166117"/>
                </a:lnTo>
                <a:cubicBezTo>
                  <a:pt x="0" y="522088"/>
                  <a:pt x="522088" y="0"/>
                  <a:pt x="1166117" y="0"/>
                </a:cubicBezTo>
                <a:close/>
              </a:path>
            </a:pathLst>
          </a:custGeom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9100454" y="6217814"/>
            <a:ext cx="2394859" cy="3823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Powered by Syan Bot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0" y="1138782"/>
            <a:ext cx="1219199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Go-To-Market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05869" y="1753791"/>
            <a:ext cx="330310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Phase 3: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Schools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Universities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Corporate wellness </a:t>
            </a: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programs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72097" y="1761048"/>
            <a:ext cx="2947291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Phase 1: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Beta users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Families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Students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Early </a:t>
            </a: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adopters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95871" y="1762251"/>
            <a:ext cx="3230529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Phase 2: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Social media growth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Influencer partnerships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Community-driven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871" y="3816023"/>
            <a:ext cx="3230529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Growth Channels: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LinkedIn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YouTube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FFFFEB"/>
                </a:solidFill>
                <a:latin typeface="Candara" panose="020E0502030303020204" pitchFamily="34" charset="0"/>
              </a:rPr>
              <a:t>TikTok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Parent </a:t>
            </a: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communities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0525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560284" y="156387"/>
            <a:ext cx="535577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br>
              <a:rPr lang="en-US" sz="28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radio that listens to your soul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541563" y="306649"/>
            <a:ext cx="842477" cy="842477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34" t="12434" r="12434" b="12434"/>
          <a:stretch>
            <a:fillRect/>
          </a:stretch>
        </p:blipFill>
        <p:spPr>
          <a:xfrm>
            <a:off x="11052839" y="5903898"/>
            <a:ext cx="696262" cy="696262"/>
          </a:xfrm>
          <a:custGeom>
            <a:avLst/>
            <a:gdLst>
              <a:gd name="connsiteX0" fmla="*/ 1166117 w 5152516"/>
              <a:gd name="connsiteY0" fmla="*/ 0 h 5152516"/>
              <a:gd name="connsiteX1" fmla="*/ 3986399 w 5152516"/>
              <a:gd name="connsiteY1" fmla="*/ 0 h 5152516"/>
              <a:gd name="connsiteX2" fmla="*/ 5152516 w 5152516"/>
              <a:gd name="connsiteY2" fmla="*/ 1166117 h 5152516"/>
              <a:gd name="connsiteX3" fmla="*/ 5152516 w 5152516"/>
              <a:gd name="connsiteY3" fmla="*/ 3986399 h 5152516"/>
              <a:gd name="connsiteX4" fmla="*/ 3986399 w 5152516"/>
              <a:gd name="connsiteY4" fmla="*/ 5152516 h 5152516"/>
              <a:gd name="connsiteX5" fmla="*/ 1166117 w 5152516"/>
              <a:gd name="connsiteY5" fmla="*/ 5152516 h 5152516"/>
              <a:gd name="connsiteX6" fmla="*/ 0 w 5152516"/>
              <a:gd name="connsiteY6" fmla="*/ 3986399 h 5152516"/>
              <a:gd name="connsiteX7" fmla="*/ 0 w 5152516"/>
              <a:gd name="connsiteY7" fmla="*/ 1166117 h 5152516"/>
              <a:gd name="connsiteX8" fmla="*/ 1166117 w 5152516"/>
              <a:gd name="connsiteY8" fmla="*/ 0 h 5152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52516" h="5152516">
                <a:moveTo>
                  <a:pt x="1166117" y="0"/>
                </a:moveTo>
                <a:lnTo>
                  <a:pt x="3986399" y="0"/>
                </a:lnTo>
                <a:cubicBezTo>
                  <a:pt x="4630428" y="0"/>
                  <a:pt x="5152516" y="522088"/>
                  <a:pt x="5152516" y="1166117"/>
                </a:cubicBezTo>
                <a:lnTo>
                  <a:pt x="5152516" y="3986399"/>
                </a:lnTo>
                <a:cubicBezTo>
                  <a:pt x="5152516" y="4630428"/>
                  <a:pt x="4630428" y="5152516"/>
                  <a:pt x="3986399" y="5152516"/>
                </a:cubicBezTo>
                <a:lnTo>
                  <a:pt x="1166117" y="5152516"/>
                </a:lnTo>
                <a:cubicBezTo>
                  <a:pt x="522088" y="5152516"/>
                  <a:pt x="0" y="4630428"/>
                  <a:pt x="0" y="3986399"/>
                </a:cubicBezTo>
                <a:lnTo>
                  <a:pt x="0" y="1166117"/>
                </a:lnTo>
                <a:cubicBezTo>
                  <a:pt x="0" y="522088"/>
                  <a:pt x="522088" y="0"/>
                  <a:pt x="1166117" y="0"/>
                </a:cubicBezTo>
                <a:close/>
              </a:path>
            </a:pathLst>
          </a:custGeom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9100454" y="6217814"/>
            <a:ext cx="2394859" cy="3823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Powered by Syan Bot</a:t>
            </a:r>
            <a:endParaRPr lang="en-US" sz="2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728685" y="1952889"/>
            <a:ext cx="7271657" cy="4201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Our Vision:</a:t>
            </a:r>
            <a:endParaRPr lang="en-US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To become the world's most trusted AI wellbeing companion, helping millions of people improve happiness, resilience, productivity and quality of life through </a:t>
            </a: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personalized </a:t>
            </a: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conversations and music</a:t>
            </a: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.</a:t>
            </a:r>
            <a:endParaRPr lang="en-US" sz="16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 marL="0" lvl="1" algn="just">
              <a:lnSpc>
                <a:spcPct val="200000"/>
              </a:lnSpc>
            </a:pP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Seeking:</a:t>
            </a:r>
            <a:endParaRPr lang="en-US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Strategic partners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Pilot customers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EB"/>
                </a:solidFill>
                <a:latin typeface="Candara" panose="020E0502030303020204" pitchFamily="34" charset="0"/>
              </a:rPr>
              <a:t>Investors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Advisors</a:t>
            </a:r>
          </a:p>
          <a:p>
            <a:pPr marL="0" lvl="1" algn="just">
              <a:lnSpc>
                <a:spcPct val="200000"/>
              </a:lnSpc>
            </a:pPr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RedDust </a:t>
            </a: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– The future </a:t>
            </a:r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of AI-powered wellbeing.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" y="885733"/>
            <a:ext cx="12192000" cy="10602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>
              <a:lnSpc>
                <a:spcPct val="150000"/>
              </a:lnSpc>
            </a:pPr>
            <a:r>
              <a:rPr lang="en-US" sz="24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Vision</a:t>
            </a:r>
          </a:p>
          <a:p>
            <a:pPr lvl="1" algn="ctr">
              <a:lnSpc>
                <a:spcPct val="150000"/>
              </a:lnSpc>
            </a:pPr>
            <a:r>
              <a:rPr lang="en-US" dirty="0">
                <a:solidFill>
                  <a:srgbClr val="FFFFEB"/>
                </a:solidFill>
                <a:latin typeface="Candara" panose="020E0502030303020204" pitchFamily="34" charset="0"/>
              </a:rPr>
              <a:t>We believe music is one of humanity's most powerful tools for wellbeing</a:t>
            </a:r>
            <a:r>
              <a:rPr lang="en-US" dirty="0" smtClean="0">
                <a:solidFill>
                  <a:srgbClr val="FFFFEB"/>
                </a:solidFill>
                <a:latin typeface="Candara" panose="020E0502030303020204" pitchFamily="34" charset="0"/>
              </a:rPr>
              <a:t>.</a:t>
            </a:r>
            <a:endParaRPr lang="en-US" sz="2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4222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515</Words>
  <Application>Microsoft Office PowerPoint</Application>
  <PresentationFormat>Widescreen</PresentationFormat>
  <Paragraphs>162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Candara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34</cp:revision>
  <dcterms:created xsi:type="dcterms:W3CDTF">2026-06-01T00:31:16Z</dcterms:created>
  <dcterms:modified xsi:type="dcterms:W3CDTF">2026-06-02T06:43:47Z</dcterms:modified>
</cp:coreProperties>
</file>