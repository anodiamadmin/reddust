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8" r:id="rId2"/>
    <p:sldId id="269" r:id="rId3"/>
    <p:sldId id="270" r:id="rId4"/>
    <p:sldId id="271" r:id="rId5"/>
    <p:sldId id="272" r:id="rId6"/>
    <p:sldId id="273" r:id="rId7"/>
    <p:sldId id="274" r:id="rId8"/>
    <p:sldId id="275" r:id="rId9"/>
    <p:sldId id="276" r:id="rId10"/>
    <p:sldId id="277" r:id="rId11"/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6" d="100"/>
          <a:sy n="66" d="100"/>
        </p:scale>
        <p:origin x="663" y="3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800" b="1">
                <a:solidFill>
                  <a:srgbClr val="FFFFFF"/>
                </a:solidFill>
                <a:latin typeface="Arial"/>
              </a:defRPr>
            </a:pPr>
            <a:r>
              <a:rPr sz="2900" b="1">
                <a:solidFill>
                  <a:srgbClr val="16223C"/>
                </a:solidFill>
                <a:latin typeface="Aptos"/>
              </a:rPr>
              <a:t>From Airwaves to Audio Files</a:t>
            </a:r>
          </a:p>
          <a:p>
            <a:pPr>
              <a:spcAft>
                <a:spcPts val="2400"/>
              </a:spcAft>
              <a:defRPr sz="2400">
                <a:solidFill>
                  <a:srgbClr val="007AFF"/>
                </a:solidFill>
                <a:latin typeface="Arial"/>
              </a:defRPr>
            </a:pPr>
            <a:r>
              <a:rPr sz="2900" b="1">
                <a:solidFill>
                  <a:srgbClr val="16223C"/>
                </a:solidFill>
                <a:latin typeface="Aptos"/>
              </a:rPr>
              <a:t>The Physics and Mathematics of Digital Audio Sampling</a:t>
            </a:r>
          </a:p>
          <a:p>
            <a:pPr>
              <a:defRPr sz="1600">
                <a:solidFill>
                  <a:srgbClr val="6C7A89"/>
                </a:solidFill>
                <a:latin typeface="Arial"/>
              </a:defRPr>
            </a:pPr>
            <a:r>
              <a:rPr sz="2900" b="1">
                <a:solidFill>
                  <a:srgbClr val="16223C"/>
                </a:solidFill>
                <a:latin typeface="Aptos"/>
              </a:rPr>
              <a:t>Understanding the Nyquist Theorem, ADC Pipelines, and Quantisation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84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lide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331720"/>
            <a:ext cx="6217920" cy="2809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5089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A2530"/>
                </a:solidFill>
                <a:latin typeface="Arial"/>
              </a:defRPr>
            </a:pPr>
            <a:r>
              <a:rPr sz="2500" b="1">
                <a:solidFill>
                  <a:srgbClr val="16223C"/>
                </a:solidFill>
                <a:latin typeface="Aptos"/>
              </a:rPr>
              <a:t>The Core Challenge: Continuous vs. Discrete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5486400" cy="512064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 sz="1400">
                <a:solidFill>
                  <a:srgbClr val="5D5E67"/>
                </a:solidFill>
                <a:latin typeface="Aptos"/>
              </a:rPr>
              <a:t>Physical Reality: True sound is an analog pressure wave, infinitely variable in both time and amplitude.</a:t>
            </a:r>
          </a:p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 sz="1400">
                <a:solidFill>
                  <a:srgbClr val="5D5E67"/>
                </a:solidFill>
                <a:latin typeface="Aptos"/>
              </a:rPr>
              <a:t>Digital Reality: Computational architectures only process binary code (discrete 0s and 1s).</a:t>
            </a:r>
          </a:p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 sz="1400">
                <a:solidFill>
                  <a:srgbClr val="5D5E67"/>
                </a:solidFill>
                <a:latin typeface="Aptos"/>
              </a:rPr>
              <a:t>The Bridge: Sampling acts as the mathematical and electrical link, slicing continuous waves into distinct numerical frames.</a:t>
            </a:r>
          </a:p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 sz="1400">
                <a:solidFill>
                  <a:srgbClr val="5D5E67"/>
                </a:solidFill>
                <a:latin typeface="Aptos"/>
              </a:rPr>
              <a:t>Information Integrity: The process must capture enough detail to allow exact wave reconstruction without raw data bloat.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84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309360" y="1143000"/>
            <a:ext cx="5349240" cy="5212080"/>
          </a:xfrm>
          <a:prstGeom prst="roundRect">
            <a:avLst/>
          </a:prstGeom>
          <a:solidFill>
            <a:srgbClr val="F7F5FA"/>
          </a:solidFill>
          <a:ln w="12700">
            <a:solidFill>
              <a:srgbClr val="DA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lide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417320"/>
            <a:ext cx="4892040" cy="34914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92240" y="598932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D5E67"/>
                </a:solidFill>
                <a:latin typeface="Aptos"/>
              </a:rPr>
              <a:t>Concept diagram</a:t>
            </a:r>
          </a:p>
        </p:txBody>
      </p:sp>
    </p:spTree>
    <p:extLst>
      <p:ext uri="{BB962C8B-B14F-4D97-AF65-F5344CB8AC3E}">
        <p14:creationId xmlns:p14="http://schemas.microsoft.com/office/powerpoint/2010/main" val="1899077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A2530"/>
                </a:solidFill>
                <a:latin typeface="Arial"/>
              </a:defRPr>
            </a:pPr>
            <a:r>
              <a:rPr sz="2500" b="1">
                <a:solidFill>
                  <a:srgbClr val="16223C"/>
                </a:solidFill>
                <a:latin typeface="Aptos"/>
              </a:rPr>
              <a:t>The Architectural ADC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59" y="1143000"/>
            <a:ext cx="9826897" cy="512064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 sz="1400" dirty="0">
                <a:solidFill>
                  <a:srgbClr val="5D5E67"/>
                </a:solidFill>
                <a:latin typeface="Aptos"/>
              </a:rPr>
              <a:t>Acoustic Input: Physical sound pressure waves vibrate a microphone diaphragm, generating low-voltage electrical signals.</a:t>
            </a:r>
          </a:p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 sz="1400" dirty="0">
                <a:solidFill>
                  <a:srgbClr val="5D5E67"/>
                </a:solidFill>
                <a:latin typeface="Aptos"/>
              </a:rPr>
              <a:t>Pre-Amplification: The low-voltage microphone signal is boosted to a clean, usable line-level hardware voltage.</a:t>
            </a:r>
          </a:p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 sz="1400" dirty="0">
                <a:solidFill>
                  <a:srgbClr val="5D5E67"/>
                </a:solidFill>
                <a:latin typeface="Aptos"/>
              </a:rPr>
              <a:t>Anti-Aliasing Filter: A low-pass hardware filter violently strips away all frequencies above the chosen system limit.</a:t>
            </a:r>
          </a:p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 sz="1400" dirty="0">
                <a:solidFill>
                  <a:srgbClr val="5D5E67"/>
                </a:solidFill>
                <a:latin typeface="Aptos"/>
              </a:rPr>
              <a:t>The ADC Chip: The core integrated circuit handles both Sampling (chopping time) and </a:t>
            </a:r>
            <a:r>
              <a:rPr sz="1400" dirty="0" err="1">
                <a:solidFill>
                  <a:srgbClr val="5D5E67"/>
                </a:solidFill>
                <a:latin typeface="Aptos"/>
              </a:rPr>
              <a:t>Quantisation</a:t>
            </a:r>
            <a:r>
              <a:rPr sz="1400" dirty="0">
                <a:solidFill>
                  <a:srgbClr val="5D5E67"/>
                </a:solidFill>
                <a:latin typeface="Aptos"/>
              </a:rPr>
              <a:t> (chopping amplitude).</a:t>
            </a:r>
          </a:p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 sz="1400" dirty="0">
                <a:solidFill>
                  <a:srgbClr val="5D5E67"/>
                </a:solidFill>
                <a:latin typeface="Aptos"/>
              </a:rPr>
              <a:t>Storage &amp; Packaging: The resulting structural binary stream is written directly into uncompressed .wav file containers.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84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94360" y="2794000"/>
            <a:ext cx="11064240" cy="3561079"/>
          </a:xfrm>
          <a:prstGeom prst="roundRect">
            <a:avLst/>
          </a:prstGeom>
          <a:solidFill>
            <a:srgbClr val="F7F5FA"/>
          </a:solidFill>
          <a:ln w="12700">
            <a:solidFill>
              <a:srgbClr val="DA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lide03.png"/>
          <p:cNvPicPr>
            <a:picLocks noChangeAspect="1"/>
          </p:cNvPicPr>
          <p:nvPr/>
        </p:nvPicPr>
        <p:blipFill rotWithShape="1">
          <a:blip r:embed="rId2"/>
          <a:srcRect b="69674"/>
          <a:stretch/>
        </p:blipFill>
        <p:spPr>
          <a:xfrm>
            <a:off x="1528935" y="4000189"/>
            <a:ext cx="5263752" cy="6806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92240" y="598932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D5E67"/>
                </a:solidFill>
                <a:latin typeface="Aptos"/>
              </a:rPr>
              <a:t>Concept diagram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029" y="2628563"/>
            <a:ext cx="11860203" cy="4151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1807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A2530"/>
                </a:solidFill>
                <a:latin typeface="Arial"/>
              </a:defRPr>
            </a:pPr>
            <a:r>
              <a:rPr sz="2500" b="1">
                <a:solidFill>
                  <a:srgbClr val="16223C"/>
                </a:solidFill>
                <a:latin typeface="Aptos"/>
              </a:rPr>
              <a:t>Step 1: Time Discretisation (Sampling)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5486400" cy="512064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>
                <a:solidFill>
                  <a:srgbClr val="5D5E67"/>
                </a:solidFill>
                <a:latin typeface="Aptos"/>
              </a:rPr>
              <a:t>Definition: Measuring the exact instantaneous voltage of an analog signal at uniform, highly precise intervals of time.</a:t>
            </a:r>
          </a:p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>
                <a:solidFill>
                  <a:srgbClr val="5D5E67"/>
                </a:solidFill>
                <a:latin typeface="Aptos"/>
              </a:rPr>
              <a:t>Sampling Interval (Ts): The fixed, unvarying time duration separating consecutive signal measurements.</a:t>
            </a:r>
          </a:p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>
                <a:solidFill>
                  <a:srgbClr val="5D5E67"/>
                </a:solidFill>
                <a:latin typeface="Aptos"/>
              </a:rPr>
              <a:t>Sampling Frequency (fs): The total number of snapshots captured per single second, measured strictly in Hertz (Hz).</a:t>
            </a:r>
          </a:p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>
                <a:solidFill>
                  <a:srgbClr val="5D5E67"/>
                </a:solidFill>
                <a:latin typeface="Aptos"/>
              </a:rPr>
              <a:t>Mathematical Transformation: Maps a continuous-time signal x(t) into a discrete sequence defined as x[n] = x(nTs).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84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309360" y="1143000"/>
            <a:ext cx="5349240" cy="5212080"/>
          </a:xfrm>
          <a:prstGeom prst="roundRect">
            <a:avLst/>
          </a:prstGeom>
          <a:solidFill>
            <a:srgbClr val="F7F5FA"/>
          </a:solidFill>
          <a:ln w="12700">
            <a:solidFill>
              <a:srgbClr val="DA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lide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417320"/>
            <a:ext cx="4892040" cy="34914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92240" y="598932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D5E67"/>
                </a:solidFill>
                <a:latin typeface="Aptos"/>
              </a:rPr>
              <a:t>Concept diagram</a:t>
            </a:r>
          </a:p>
        </p:txBody>
      </p:sp>
    </p:spTree>
    <p:extLst>
      <p:ext uri="{BB962C8B-B14F-4D97-AF65-F5344CB8AC3E}">
        <p14:creationId xmlns:p14="http://schemas.microsoft.com/office/powerpoint/2010/main" val="16204676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A2530"/>
                </a:solidFill>
                <a:latin typeface="Arial"/>
              </a:defRPr>
            </a:pPr>
            <a:r>
              <a:rPr sz="2500" b="1">
                <a:solidFill>
                  <a:srgbClr val="16223C"/>
                </a:solidFill>
                <a:latin typeface="Aptos"/>
              </a:rPr>
              <a:t>The Nyquist-Shannon Sampling Theorem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5486400" cy="512064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 dirty="0">
                <a:solidFill>
                  <a:srgbClr val="5D5E67"/>
                </a:solidFill>
                <a:latin typeface="Aptos"/>
              </a:rPr>
              <a:t>The Fundamental Rule: To perfectly reconstruct an analog signal, the sampling rate (fs) must be greater than twice the highest frequency component (</a:t>
            </a:r>
            <a:r>
              <a:rPr dirty="0" err="1">
                <a:solidFill>
                  <a:srgbClr val="5D5E67"/>
                </a:solidFill>
                <a:latin typeface="Aptos"/>
              </a:rPr>
              <a:t>fmax</a:t>
            </a:r>
            <a:r>
              <a:rPr dirty="0">
                <a:solidFill>
                  <a:srgbClr val="5D5E67"/>
                </a:solidFill>
                <a:latin typeface="Aptos"/>
              </a:rPr>
              <a:t>) contained within the signal.</a:t>
            </a:r>
          </a:p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 dirty="0">
                <a:solidFill>
                  <a:srgbClr val="5D5E67"/>
                </a:solidFill>
                <a:latin typeface="Aptos"/>
              </a:rPr>
              <a:t>The Formula: fs &gt;= 2 * </a:t>
            </a:r>
            <a:r>
              <a:rPr dirty="0" err="1">
                <a:solidFill>
                  <a:srgbClr val="5D5E67"/>
                </a:solidFill>
                <a:latin typeface="Aptos"/>
              </a:rPr>
              <a:t>fmax</a:t>
            </a:r>
            <a:endParaRPr dirty="0">
              <a:solidFill>
                <a:srgbClr val="5D5E67"/>
              </a:solidFill>
              <a:latin typeface="Aptos"/>
            </a:endParaRPr>
          </a:p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 dirty="0">
                <a:solidFill>
                  <a:srgbClr val="5D5E67"/>
                </a:solidFill>
                <a:latin typeface="Aptos"/>
              </a:rPr>
              <a:t>Nyquist Frequency: The absolute mathematical frequency ceiling of a digital system, equal to exactly half the sampling rate (fs / 2).</a:t>
            </a:r>
          </a:p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 dirty="0">
                <a:solidFill>
                  <a:srgbClr val="5D5E67"/>
                </a:solidFill>
                <a:latin typeface="Aptos"/>
              </a:rPr>
              <a:t>Reconstruction: If this condition is met, the original wave can be rebuilt with zero mathematical loss or structural interpolation errors.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84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309360" y="1143000"/>
            <a:ext cx="5349240" cy="5212080"/>
          </a:xfrm>
          <a:prstGeom prst="roundRect">
            <a:avLst/>
          </a:prstGeom>
          <a:solidFill>
            <a:srgbClr val="F7F5FA"/>
          </a:solidFill>
          <a:ln w="12700">
            <a:solidFill>
              <a:srgbClr val="DA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lide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417320"/>
            <a:ext cx="4892040" cy="35675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92240" y="598932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D5E67"/>
                </a:solidFill>
                <a:latin typeface="Aptos"/>
              </a:rPr>
              <a:t>Concept diagram</a:t>
            </a:r>
          </a:p>
        </p:txBody>
      </p:sp>
    </p:spTree>
    <p:extLst>
      <p:ext uri="{BB962C8B-B14F-4D97-AF65-F5344CB8AC3E}">
        <p14:creationId xmlns:p14="http://schemas.microsoft.com/office/powerpoint/2010/main" val="5115247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A2530"/>
                </a:solidFill>
                <a:latin typeface="Arial"/>
              </a:defRPr>
            </a:pPr>
            <a:r>
              <a:rPr sz="2500" b="1">
                <a:solidFill>
                  <a:srgbClr val="16223C"/>
                </a:solidFill>
                <a:latin typeface="Aptos"/>
              </a:rPr>
              <a:t>The Penalty of Failure: Aliasing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5486400" cy="512064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 sz="1400">
                <a:solidFill>
                  <a:srgbClr val="5D5E67"/>
                </a:solidFill>
                <a:latin typeface="Aptos"/>
              </a:rPr>
              <a:t>Under-sampling: Occurs when a sound wave changes faster than the digital system is configured to sample it (fs &lt; 2 * fmax).</a:t>
            </a:r>
          </a:p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 sz="1400">
                <a:solidFill>
                  <a:srgbClr val="5D5E67"/>
                </a:solidFill>
                <a:latin typeface="Aptos"/>
              </a:rPr>
              <a:t>Spectral Folding: The high-frequency wave reflects back across the Nyquist limit, impersonating an artificial low-frequency wave.</a:t>
            </a:r>
          </a:p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 sz="1400">
                <a:solidFill>
                  <a:srgbClr val="5D5E67"/>
                </a:solidFill>
                <a:latin typeface="Aptos"/>
              </a:rPr>
              <a:t>Digital Distortion: Creates harsh, metallic noise that is permanently baked into the data stream and cannot be filtered out later.</a:t>
            </a:r>
          </a:p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 sz="1400">
                <a:solidFill>
                  <a:srgbClr val="5D5E67"/>
                </a:solidFill>
                <a:latin typeface="Aptos"/>
              </a:rPr>
              <a:t>Prevention: The hardware anti-aliasing filter forces strict compliance by cutting off illegal high frequencies prior to conversion.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84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309360" y="1143000"/>
            <a:ext cx="5349240" cy="5212080"/>
          </a:xfrm>
          <a:prstGeom prst="roundRect">
            <a:avLst/>
          </a:prstGeom>
          <a:solidFill>
            <a:srgbClr val="F7F5FA"/>
          </a:solidFill>
          <a:ln w="12700">
            <a:solidFill>
              <a:srgbClr val="DA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lide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417320"/>
            <a:ext cx="4892040" cy="3711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92240" y="598932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D5E67"/>
                </a:solidFill>
                <a:latin typeface="Aptos"/>
              </a:rPr>
              <a:t>Concept diagram</a:t>
            </a:r>
          </a:p>
        </p:txBody>
      </p:sp>
    </p:spTree>
    <p:extLst>
      <p:ext uri="{BB962C8B-B14F-4D97-AF65-F5344CB8AC3E}">
        <p14:creationId xmlns:p14="http://schemas.microsoft.com/office/powerpoint/2010/main" val="440405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A2530"/>
                </a:solidFill>
                <a:latin typeface="Arial"/>
              </a:defRPr>
            </a:pPr>
            <a:r>
              <a:rPr sz="2500" b="1">
                <a:solidFill>
                  <a:srgbClr val="16223C"/>
                </a:solidFill>
                <a:latin typeface="Aptos"/>
              </a:rPr>
              <a:t>Real-World Engineering: Why 44.1 kHz?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5486400" cy="512064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 sz="1400">
                <a:solidFill>
                  <a:srgbClr val="5D5E67"/>
                </a:solidFill>
                <a:latin typeface="Aptos"/>
              </a:rPr>
              <a:t>Human Biological Limits: The healthy human auditory system can perceive frequency vibrations up to roughly 20,000 Hz (20 kHz).</a:t>
            </a:r>
          </a:p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 sz="1400">
                <a:solidFill>
                  <a:srgbClr val="5D5E67"/>
                </a:solidFill>
                <a:latin typeface="Aptos"/>
              </a:rPr>
              <a:t>The Nyquist Baseline: According to the theorem, capturing human hearing requires an absolute minimum baseline of 40 kHz.</a:t>
            </a:r>
          </a:p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 sz="1400">
                <a:solidFill>
                  <a:srgbClr val="5D5E67"/>
                </a:solidFill>
                <a:latin typeface="Aptos"/>
              </a:rPr>
              <a:t>The Transition Band: The extra 4,100 Hz provides critical breathing room for physical, real-world analog filters to roll off efficiently.</a:t>
            </a:r>
          </a:p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 sz="1400">
                <a:solidFill>
                  <a:srgbClr val="5D5E67"/>
                </a:solidFill>
                <a:latin typeface="Aptos"/>
              </a:rPr>
              <a:t>Industry Standardization: Established during the early digital audio era to sync seamlessly with global video formats.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84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309360" y="1143000"/>
            <a:ext cx="5349240" cy="5212080"/>
          </a:xfrm>
          <a:prstGeom prst="roundRect">
            <a:avLst/>
          </a:prstGeom>
          <a:solidFill>
            <a:srgbClr val="F7F5FA"/>
          </a:solidFill>
          <a:ln w="12700">
            <a:solidFill>
              <a:srgbClr val="DA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lide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417320"/>
            <a:ext cx="4892040" cy="318225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92240" y="598932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D5E67"/>
                </a:solidFill>
                <a:latin typeface="Aptos"/>
              </a:rPr>
              <a:t>Concept diagram</a:t>
            </a:r>
          </a:p>
        </p:txBody>
      </p:sp>
    </p:spTree>
    <p:extLst>
      <p:ext uri="{BB962C8B-B14F-4D97-AF65-F5344CB8AC3E}">
        <p14:creationId xmlns:p14="http://schemas.microsoft.com/office/powerpoint/2010/main" val="28156629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A2530"/>
                </a:solidFill>
                <a:latin typeface="Arial"/>
              </a:defRPr>
            </a:pPr>
            <a:r>
              <a:rPr sz="2500" b="1">
                <a:solidFill>
                  <a:srgbClr val="16223C"/>
                </a:solidFill>
                <a:latin typeface="Aptos"/>
              </a:rPr>
              <a:t>Step 2: Amplitude Discretisation (Quantisation)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5486400" cy="512064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 sz="1400">
                <a:solidFill>
                  <a:srgbClr val="5D5E67"/>
                </a:solidFill>
                <a:latin typeface="Aptos"/>
              </a:rPr>
              <a:t>The Axis Split: While sampling slices the horizontal axis (Time), quantisation slices the vertical axis (Voltage Level).</a:t>
            </a:r>
          </a:p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 sz="1400">
                <a:solidFill>
                  <a:srgbClr val="5D5E67"/>
                </a:solidFill>
                <a:latin typeface="Aptos"/>
              </a:rPr>
              <a:t>Bit Depth (Resolution): The exact number of bits dedicated to expressing the numeric value of each individual sample point.</a:t>
            </a:r>
          </a:p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 sz="1400">
                <a:solidFill>
                  <a:srgbClr val="5D5E67"/>
                </a:solidFill>
                <a:latin typeface="Aptos"/>
              </a:rPr>
              <a:t>Resolution Scale Levels:</a:t>
            </a:r>
          </a:p>
          <a:p>
            <a:pPr lvl="1">
              <a:spcAft>
                <a:spcPts val="700"/>
              </a:spcAft>
              <a:defRPr sz="1600">
                <a:solidFill>
                  <a:srgbClr val="6C7A89"/>
                </a:solidFill>
                <a:latin typeface="Arial"/>
              </a:defRPr>
            </a:pPr>
            <a:r>
              <a:rPr sz="1400">
                <a:solidFill>
                  <a:srgbClr val="5D5E67"/>
                </a:solidFill>
                <a:latin typeface="Aptos"/>
              </a:rPr>
              <a:t>  - 16-Bit (CD Quality): Provides 2^16 = 65,536 distinct numerical amplitude steps.</a:t>
            </a:r>
          </a:p>
          <a:p>
            <a:pPr lvl="1">
              <a:spcAft>
                <a:spcPts val="700"/>
              </a:spcAft>
              <a:defRPr sz="1600">
                <a:solidFill>
                  <a:srgbClr val="6C7A89"/>
                </a:solidFill>
                <a:latin typeface="Arial"/>
              </a:defRPr>
            </a:pPr>
            <a:r>
              <a:rPr sz="1400">
                <a:solidFill>
                  <a:srgbClr val="5D5E67"/>
                </a:solidFill>
                <a:latin typeface="Aptos"/>
              </a:rPr>
              <a:t>  - 24-Bit (Studio Master): Provides 2^24 = 16,777,216 distinct numerical amplitude steps.</a:t>
            </a:r>
          </a:p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 sz="1400">
                <a:solidFill>
                  <a:srgbClr val="5D5E67"/>
                </a:solidFill>
                <a:latin typeface="Aptos"/>
              </a:rPr>
              <a:t>Quantisation Error: The tiny mathematical rounding offset between the true wave voltage and the nearest grid line. This error generates a permanent low-level noise floor.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84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309360" y="1143000"/>
            <a:ext cx="5349240" cy="5212080"/>
          </a:xfrm>
          <a:prstGeom prst="roundRect">
            <a:avLst/>
          </a:prstGeom>
          <a:solidFill>
            <a:srgbClr val="F7F5FA"/>
          </a:solidFill>
          <a:ln w="12700">
            <a:solidFill>
              <a:srgbClr val="DA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lid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417320"/>
            <a:ext cx="4892040" cy="34356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92240" y="598932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D5E67"/>
                </a:solidFill>
                <a:latin typeface="Aptos"/>
              </a:rPr>
              <a:t>Concept diagram</a:t>
            </a:r>
          </a:p>
        </p:txBody>
      </p:sp>
    </p:spTree>
    <p:extLst>
      <p:ext uri="{BB962C8B-B14F-4D97-AF65-F5344CB8AC3E}">
        <p14:creationId xmlns:p14="http://schemas.microsoft.com/office/powerpoint/2010/main" val="18864008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11034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A2530"/>
                </a:solidFill>
                <a:latin typeface="Arial"/>
              </a:defRPr>
            </a:pPr>
            <a:r>
              <a:rPr sz="2500" b="1" dirty="0">
                <a:solidFill>
                  <a:srgbClr val="16223C"/>
                </a:solidFill>
                <a:latin typeface="Aptos"/>
              </a:rPr>
              <a:t>Pulse Code Modulation (PCM) &amp; WAV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2108"/>
            <a:ext cx="11467011" cy="1875971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 sz="1400" dirty="0">
                <a:solidFill>
                  <a:srgbClr val="5D5E67"/>
                </a:solidFill>
                <a:latin typeface="Aptos"/>
              </a:rPr>
              <a:t>PCM Generation: The sequential stream of </a:t>
            </a:r>
            <a:r>
              <a:rPr sz="1400" dirty="0" err="1">
                <a:solidFill>
                  <a:srgbClr val="5D5E67"/>
                </a:solidFill>
                <a:latin typeface="Aptos"/>
              </a:rPr>
              <a:t>quantised</a:t>
            </a:r>
            <a:r>
              <a:rPr sz="1400" dirty="0">
                <a:solidFill>
                  <a:srgbClr val="5D5E67"/>
                </a:solidFill>
                <a:latin typeface="Aptos"/>
              </a:rPr>
              <a:t> integers is encoded directly into a continuous digital </a:t>
            </a:r>
            <a:r>
              <a:rPr sz="1400" dirty="0" err="1">
                <a:solidFill>
                  <a:srgbClr val="5D5E67"/>
                </a:solidFill>
                <a:latin typeface="Aptos"/>
              </a:rPr>
              <a:t>bitstream</a:t>
            </a:r>
            <a:r>
              <a:rPr sz="1400" dirty="0">
                <a:solidFill>
                  <a:srgbClr val="5D5E67"/>
                </a:solidFill>
                <a:latin typeface="Aptos"/>
              </a:rPr>
              <a:t>.</a:t>
            </a:r>
          </a:p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 sz="1400" dirty="0">
                <a:solidFill>
                  <a:srgbClr val="5D5E67"/>
                </a:solidFill>
                <a:latin typeface="Aptos"/>
              </a:rPr>
              <a:t>WAV Container Architecture:</a:t>
            </a:r>
          </a:p>
          <a:p>
            <a:pPr lvl="1">
              <a:spcAft>
                <a:spcPts val="700"/>
              </a:spcAft>
              <a:defRPr sz="1600">
                <a:solidFill>
                  <a:srgbClr val="6C7A89"/>
                </a:solidFill>
                <a:latin typeface="Arial"/>
              </a:defRPr>
            </a:pPr>
            <a:r>
              <a:rPr sz="1400" dirty="0">
                <a:solidFill>
                  <a:srgbClr val="5D5E67"/>
                </a:solidFill>
                <a:latin typeface="Aptos"/>
              </a:rPr>
              <a:t>  - Header Chunk: Defines critical file identity parameters: sample rate, bit depth, and channel configurations (Mono/Stereo).</a:t>
            </a:r>
          </a:p>
          <a:p>
            <a:pPr lvl="1">
              <a:spcAft>
                <a:spcPts val="700"/>
              </a:spcAft>
              <a:defRPr sz="1600">
                <a:solidFill>
                  <a:srgbClr val="6C7A89"/>
                </a:solidFill>
                <a:latin typeface="Arial"/>
              </a:defRPr>
            </a:pPr>
            <a:r>
              <a:rPr sz="1400" dirty="0">
                <a:solidFill>
                  <a:srgbClr val="5D5E67"/>
                </a:solidFill>
                <a:latin typeface="Aptos"/>
              </a:rPr>
              <a:t>  - Data Chunk: A massive, uncompressed sequential block of raw binary data representing audio amplitude over time.</a:t>
            </a:r>
          </a:p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 sz="1400" dirty="0">
                <a:solidFill>
                  <a:srgbClr val="5D5E67"/>
                </a:solidFill>
                <a:latin typeface="Aptos"/>
              </a:rPr>
              <a:t>Data Rate Formula: Bit Rate = Sample Rate * Bit Depth * Number of Channels</a:t>
            </a:r>
          </a:p>
          <a:p>
            <a:pPr lvl="1">
              <a:spcAft>
                <a:spcPts val="700"/>
              </a:spcAft>
              <a:defRPr sz="1600">
                <a:solidFill>
                  <a:srgbClr val="6C7A89"/>
                </a:solidFill>
                <a:latin typeface="Arial"/>
              </a:defRPr>
            </a:pPr>
            <a:r>
              <a:rPr sz="1400" dirty="0">
                <a:solidFill>
                  <a:srgbClr val="5D5E67"/>
                </a:solidFill>
                <a:latin typeface="Aptos"/>
              </a:rPr>
              <a:t>  - CD Calculation: 44,100 Hz * 16 bits * 2 channels = 1,411.2 kbps constant data throughput.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84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429" y="2256971"/>
            <a:ext cx="12010571" cy="4601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8081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A2530"/>
                </a:solidFill>
                <a:latin typeface="Arial"/>
              </a:defRPr>
            </a:pPr>
            <a:r>
              <a:rPr sz="2500" b="1">
                <a:solidFill>
                  <a:srgbClr val="16223C"/>
                </a:solidFill>
                <a:latin typeface="Aptos"/>
              </a:rPr>
              <a:t>Conclusion: Key Engineering Principles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5486400" cy="5120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 sz="2400" dirty="0">
                <a:solidFill>
                  <a:srgbClr val="5D5E67"/>
                </a:solidFill>
                <a:latin typeface="Aptos"/>
              </a:rPr>
              <a:t>Time Domain Mastery: Elevating the sample rate extends the system's ability to record higher frequencies cleanly.</a:t>
            </a:r>
          </a:p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 sz="2400" dirty="0">
                <a:solidFill>
                  <a:srgbClr val="5D5E67"/>
                </a:solidFill>
                <a:latin typeface="Aptos"/>
              </a:rPr>
              <a:t>Amplitude Domain Mastery: Increasing the system bit depth drops the noise floor and expands total operational dynamic range.</a:t>
            </a:r>
          </a:p>
          <a:p>
            <a:pPr>
              <a:spcAft>
                <a:spcPts val="700"/>
              </a:spcAft>
              <a:defRPr sz="1800">
                <a:solidFill>
                  <a:srgbClr val="1A2530"/>
                </a:solidFill>
                <a:latin typeface="Arial"/>
              </a:defRPr>
            </a:pPr>
            <a:r>
              <a:rPr sz="2400" dirty="0">
                <a:solidFill>
                  <a:srgbClr val="5D5E67"/>
                </a:solidFill>
                <a:latin typeface="Aptos"/>
              </a:rPr>
              <a:t>Mathematical Perfection: When Nyquist criteria are fully satisfied, digital audio does not lose information—there are no jagged 'staircases' in the final output wave.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84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309360" y="1143000"/>
            <a:ext cx="5349240" cy="5212080"/>
          </a:xfrm>
          <a:prstGeom prst="roundRect">
            <a:avLst/>
          </a:prstGeom>
          <a:solidFill>
            <a:srgbClr val="F7F5FA"/>
          </a:solidFill>
          <a:ln w="12700">
            <a:solidFill>
              <a:srgbClr val="DA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lid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417320"/>
            <a:ext cx="4892040" cy="28352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92240" y="598932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D5E67"/>
                </a:solidFill>
                <a:latin typeface="Aptos"/>
              </a:rPr>
              <a:t>Concept diagram</a:t>
            </a:r>
          </a:p>
        </p:txBody>
      </p:sp>
    </p:spTree>
    <p:extLst>
      <p:ext uri="{BB962C8B-B14F-4D97-AF65-F5344CB8AC3E}">
        <p14:creationId xmlns:p14="http://schemas.microsoft.com/office/powerpoint/2010/main" val="39260309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0080" y="-91408"/>
            <a:ext cx="3443749" cy="386512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219556" y="2697110"/>
            <a:ext cx="2382383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1100" dirty="0"/>
              <a:t>Network Address </a:t>
            </a:r>
            <a:r>
              <a:rPr lang="en-AU" sz="1100" dirty="0" smtClean="0"/>
              <a:t>Translation</a:t>
            </a:r>
          </a:p>
          <a:p>
            <a:r>
              <a:rPr lang="en-AU" sz="1100" dirty="0"/>
              <a:t>Interactive Connectivity </a:t>
            </a:r>
            <a:r>
              <a:rPr lang="en-AU" sz="1100" dirty="0" smtClean="0"/>
              <a:t>Establishment</a:t>
            </a:r>
          </a:p>
          <a:p>
            <a:r>
              <a:rPr lang="en-AU" sz="1100" dirty="0"/>
              <a:t>Session Traversal Utilities for </a:t>
            </a:r>
            <a:r>
              <a:rPr lang="en-AU" sz="1100" dirty="0" smtClean="0"/>
              <a:t>NAT</a:t>
            </a:r>
            <a:br>
              <a:rPr lang="en-AU" sz="1100" dirty="0" smtClean="0"/>
            </a:br>
            <a:r>
              <a:rPr lang="en-US" sz="1100" dirty="0" smtClean="0"/>
              <a:t>Traversal </a:t>
            </a:r>
            <a:r>
              <a:rPr lang="en-US" sz="1100" dirty="0"/>
              <a:t>Using Relays around </a:t>
            </a:r>
            <a:r>
              <a:rPr lang="en-US" sz="1100" dirty="0" smtClean="0"/>
              <a:t>NAT</a:t>
            </a:r>
          </a:p>
        </p:txBody>
      </p:sp>
      <p:sp>
        <p:nvSpPr>
          <p:cNvPr id="4" name="Rectangle 3"/>
          <p:cNvSpPr/>
          <p:nvPr/>
        </p:nvSpPr>
        <p:spPr>
          <a:xfrm>
            <a:off x="754743" y="4208921"/>
            <a:ext cx="23876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/>
              <a:t>Datagram Transport Layer </a:t>
            </a:r>
            <a:r>
              <a:rPr lang="en-US" sz="1100" dirty="0" smtClean="0"/>
              <a:t>Security</a:t>
            </a:r>
          </a:p>
          <a:p>
            <a:r>
              <a:rPr lang="en-US" sz="1100" dirty="0" smtClean="0"/>
              <a:t>Secure </a:t>
            </a:r>
            <a:r>
              <a:rPr lang="en-US" sz="1100" dirty="0"/>
              <a:t>Real-time Transport Protocol</a:t>
            </a:r>
            <a:endParaRPr lang="en-AU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5151" y="2580846"/>
            <a:ext cx="2324983" cy="232498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894" y="1418354"/>
            <a:ext cx="2573075" cy="257307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3130" y="1614026"/>
            <a:ext cx="1587995" cy="179683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895</Words>
  <Application>Microsoft Office PowerPoint</Application>
  <PresentationFormat>Widescreen</PresentationFormat>
  <Paragraphs>65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User</cp:lastModifiedBy>
  <cp:revision>6</cp:revision>
  <dcterms:created xsi:type="dcterms:W3CDTF">2013-01-27T09:14:16Z</dcterms:created>
  <dcterms:modified xsi:type="dcterms:W3CDTF">2026-08-11T08:35:36Z</dcterms:modified>
  <cp:category/>
</cp:coreProperties>
</file>