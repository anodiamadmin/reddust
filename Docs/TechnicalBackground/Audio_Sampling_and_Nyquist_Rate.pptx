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From Airwaves to Audio Files</a:t>
            </a:r>
          </a:p>
          <a:p>
            <a:pPr>
              <a:spcAft>
                <a:spcPts val="2400"/>
              </a:spcAft>
              <a:defRPr sz="2400">
                <a:solidFill>
                  <a:srgbClr val="007AFF"/>
                </a:solidFill>
                <a:latin typeface="Arial"/>
              </a:defRPr>
            </a:pPr>
            <a:r>
              <a:t>The Physics and Mathematics of Digital Audio Sampling</a:t>
            </a:r>
          </a:p>
          <a:p>
            <a:pPr>
              <a:defRPr sz="1600">
                <a:solidFill>
                  <a:srgbClr val="6C7A89"/>
                </a:solidFill>
                <a:latin typeface="Arial"/>
              </a:defRPr>
            </a:pPr>
            <a:r>
              <a:t>Understanding the Nyquist Theorem, ADC Pipelines, and Quantisation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A2530"/>
                </a:solidFill>
                <a:latin typeface="Arial"/>
              </a:defRPr>
            </a:pPr>
            <a:r>
              <a:t>The Core Challenge: Continuous vs. Discrete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Physical Reality: True sound is an analog pressure wave, infinitely variable in both time and amplitude.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Digital Reality: Computational architectures only process binary code (discrete 0s and 1s).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The Bridge: Sampling acts as the mathematical and electrical link, slicing continuous waves into distinct numerical frames.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Information Integrity: The process must capture enough detail to allow exact wave reconstruction without raw data bloat.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A2530"/>
                </a:solidFill>
                <a:latin typeface="Arial"/>
              </a:defRPr>
            </a:pPr>
            <a:r>
              <a:t>The Architectural ADC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Acoustic Input: Physical sound pressure waves vibrate a microphone diaphragm, generating low-voltage electrical signals.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Pre-Amplification: The low-voltage microphone signal is boosted to a clean, usable line-level hardware voltage.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Anti-Aliasing Filter: A low-pass hardware filter violently strips away all frequencies above the chosen system limit.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The ADC Chip: The core integrated circuit handles both Sampling (chopping time) and Quantisation (chopping amplitude).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Storage &amp; Packaging: The resulting structural binary stream is written directly into uncompressed .wav file containers.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A2530"/>
                </a:solidFill>
                <a:latin typeface="Arial"/>
              </a:defRPr>
            </a:pPr>
            <a:r>
              <a:t>Step 1: Time Discretisation (Sampling)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Definition: Measuring the exact instantaneous voltage of an analog signal at uniform, highly precise intervals of time.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Sampling Interval (Ts): The fixed, unvarying time duration separating consecutive signal measurements.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Sampling Frequency (fs): The total number of snapshots captured per single second, measured strictly in Hertz (Hz).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Mathematical Transformation: Maps a continuous-time signal x(t) into a discrete sequence defined as x[n] = x(nTs).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A2530"/>
                </a:solidFill>
                <a:latin typeface="Arial"/>
              </a:defRPr>
            </a:pPr>
            <a:r>
              <a:t>The Nyquist-Shannon Sampling Theorem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The Fundamental Rule: To perfectly reconstruct an analog signal, the sampling rate (fs) must be greater than twice the highest frequency component (fmax) contained within the signal.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The Formula: fs &gt;= 2 * fmax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Nyquist Frequency: The absolute mathematical frequency ceiling of a digital system, equal to exactly half the sampling rate (fs / 2).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Reconstruction: If this condition is met, the original wave can be rebuilt with zero mathematical loss or structural interpolation errors.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A2530"/>
                </a:solidFill>
                <a:latin typeface="Arial"/>
              </a:defRPr>
            </a:pPr>
            <a:r>
              <a:t>The Penalty of Failure: Aliasing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Under-sampling: Occurs when a sound wave changes faster than the digital system is configured to sample it (fs &lt; 2 * fmax).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Spectral Folding: The high-frequency wave reflects back across the Nyquist limit, impersonating an artificial low-frequency wave.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Digital Distortion: Creates harsh, metallic noise that is permanently baked into the data stream and cannot be filtered out later.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Prevention: The hardware anti-aliasing filter forces strict compliance by cutting off illegal high frequencies prior to conversion.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A2530"/>
                </a:solidFill>
                <a:latin typeface="Arial"/>
              </a:defRPr>
            </a:pPr>
            <a:r>
              <a:t>Real-World Engineering: Why 44.1 kHz?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Human Biological Limits: The healthy human auditory system can perceive frequency vibrations up to roughly 20,000 Hz (20 kHz).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The Nyquist Baseline: According to the theorem, capturing human hearing requires an absolute minimum baseline of 40 kHz.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The Transition Band: The extra 4,100 Hz provides critical breathing room for physical, real-world analog filters to roll off efficiently.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Industry Standardization: Established during the early digital audio era to sync seamlessly with global video formats.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A2530"/>
                </a:solidFill>
                <a:latin typeface="Arial"/>
              </a:defRPr>
            </a:pPr>
            <a:r>
              <a:t>Step 2: Amplitude Discretisation (Quantisation)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The Axis Split: While sampling slices the horizontal axis (Time), quantisation slices the vertical axis (Voltage Level).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Bit Depth (Resolution): The exact number of bits dedicated to expressing the numeric value of each individual sample point.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Resolution Scale Levels:</a:t>
            </a:r>
          </a:p>
          <a:p>
            <a:pPr lvl="1">
              <a:spcAft>
                <a:spcPts val="800"/>
              </a:spcAft>
              <a:defRPr sz="1600">
                <a:solidFill>
                  <a:srgbClr val="6C7A89"/>
                </a:solidFill>
                <a:latin typeface="Arial"/>
              </a:defRPr>
            </a:pPr>
            <a:r>
              <a:t>  - 16-Bit (CD Quality): Provides 2^16 = 65,536 distinct numerical amplitude steps.</a:t>
            </a:r>
          </a:p>
          <a:p>
            <a:pPr lvl="1">
              <a:spcAft>
                <a:spcPts val="800"/>
              </a:spcAft>
              <a:defRPr sz="1600">
                <a:solidFill>
                  <a:srgbClr val="6C7A89"/>
                </a:solidFill>
                <a:latin typeface="Arial"/>
              </a:defRPr>
            </a:pPr>
            <a:r>
              <a:t>  - 24-Bit (Studio Master): Provides 2^24 = 16,777,216 distinct numerical amplitude steps.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Quantisation Error: The tiny mathematical rounding offset between the true wave voltage and the nearest grid line. This error generates a permanent low-level noise floor.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A2530"/>
                </a:solidFill>
                <a:latin typeface="Arial"/>
              </a:defRPr>
            </a:pPr>
            <a:r>
              <a:t>Pulse Code Modulation (PCM) &amp; WAV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PCM Generation: The sequential stream of quantised integers is encoded directly into a continuous digital bitstream.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WAV Container Architecture:</a:t>
            </a:r>
          </a:p>
          <a:p>
            <a:pPr lvl="1">
              <a:spcAft>
                <a:spcPts val="800"/>
              </a:spcAft>
              <a:defRPr sz="1600">
                <a:solidFill>
                  <a:srgbClr val="6C7A89"/>
                </a:solidFill>
                <a:latin typeface="Arial"/>
              </a:defRPr>
            </a:pPr>
            <a:r>
              <a:t>  - Header Chunk: Defines critical file identity parameters: sample rate, bit depth, and channel configurations (Mono/Stereo).</a:t>
            </a:r>
          </a:p>
          <a:p>
            <a:pPr lvl="1">
              <a:spcAft>
                <a:spcPts val="800"/>
              </a:spcAft>
              <a:defRPr sz="1600">
                <a:solidFill>
                  <a:srgbClr val="6C7A89"/>
                </a:solidFill>
                <a:latin typeface="Arial"/>
              </a:defRPr>
            </a:pPr>
            <a:r>
              <a:t>  - Data Chunk: A massive, uncompressed sequential block of raw binary data representing audio amplitude over time.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Data Rate Formula: Bit Rate = Sample Rate * Bit Depth * Number of Channels</a:t>
            </a:r>
          </a:p>
          <a:p>
            <a:pPr lvl="1">
              <a:spcAft>
                <a:spcPts val="800"/>
              </a:spcAft>
              <a:defRPr sz="1600">
                <a:solidFill>
                  <a:srgbClr val="6C7A89"/>
                </a:solidFill>
                <a:latin typeface="Arial"/>
              </a:defRPr>
            </a:pPr>
            <a:r>
              <a:t>  - CD Calculation: 44,100 Hz * 16 bits * 2 channels = 1,411.2 kbps constant data throughput.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1A2530"/>
                </a:solidFill>
                <a:latin typeface="Arial"/>
              </a:defRPr>
            </a:pPr>
            <a:r>
              <a:t>Conclusion: Key Engineering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Time Domain Mastery: Elevating the sample rate extends the system's ability to record higher frequencies cleanly.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Amplitude Domain Mastery: Increasing the system bit depth drops the noise floor and expands total operational dynamic range.</a:t>
            </a:r>
          </a:p>
          <a:p>
            <a:pPr>
              <a:spcAft>
                <a:spcPts val="1400"/>
              </a:spcAft>
              <a:defRPr sz="1800">
                <a:solidFill>
                  <a:srgbClr val="1A2530"/>
                </a:solidFill>
                <a:latin typeface="Arial"/>
              </a:defRPr>
            </a:pPr>
            <a:r>
              <a:t>Mathematical Perfection: When Nyquist criteria are fully satisfied, digital audio does not lose information—there are no jagged 'staircases' in the final output wave.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